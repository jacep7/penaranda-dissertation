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1ebdf4b-dc47-d84f-9b51-0360614f3519}">
          <p14:sldIdLst>
            <p14:sldId id="256"/>
          </p14:sldIdLst>
        </p14:section>
        <p14:section name="The system" id="{27be2c08-8ca9-6d2a-d144-e7d115a59b17}">
          <p14:sldIdLst>
            <p14:sldId id="257"/>
          </p14:sldIdLst>
        </p14:section>
        <p14:section name="Status" id="{019f8ebe-d11f-5067-cf13-fea19c3437a1}">
          <p14:sldIdLst>
            <p14:sldId id="258"/>
          </p14:sldIdLst>
        </p14:section>
        <p14:section name="Evidence" id="{d3c2cb22-8fcc-dc2c-469c-482e355a962f}">
          <p14:sldIdLst>
            <p14:sldId id="259"/>
            <p14:sldId id="260"/>
          </p14:sldIdLst>
        </p14:section>
        <p14:section name="Wayfinding" id="{4f743169-7587-9413-5ac0-d3cafceb9de1}">
          <p14:sldIdLst>
            <p14:sldId id="261"/>
          </p14:sldIdLst>
        </p14:section>
        <p14:section name="Gaps and risk" id="{1c04b2bf-efc5-55fd-7c4d-183780ddd5be}">
          <p14:sldIdLst>
            <p14:sldId id="262"/>
            <p14:sldId id="263"/>
          </p14:sldIdLst>
        </p14:section>
        <p14:section name="Next" id="{f1c7806f-b2f4-be30-9935-ad0b6ec4b213}">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correction</c:v>
                </c:pt>
              </c:strCache>
            </c:strRef>
          </c:tx>
          <c:spPr>
            <a:solidFill>
              <a:srgbClr val="C9D3D8"/>
            </a:solidFill>
            <a:effectLst/>
          </c:spPr>
          <c:invertIfNegative val="0"/>
          <c:dLbls>
            <c:numFmt formatCode="0.000" sourceLinked="0"/>
            <c:txPr>
              <a:bodyPr/>
              <a:lstStyle/>
              <a:p>
                <a:pPr>
                  <a:defRPr b="0" i="0" strike="noStrike" sz="1100" u="none">
                    <a:solidFill>
                      <a:srgbClr val="36454F"/>
                    </a:solidFill>
                    <a:latin typeface="+mn-lt"/>
                  </a:defRPr>
                </a:pPr>
              </a:p>
            </c:txPr>
            <c:dLblPos val="outEnd"/>
            <c:showLegendKey val="0"/>
            <c:showVal val="1"/>
            <c:showCatName val="0"/>
            <c:showSerName val="0"/>
            <c:showPercent val="0"/>
            <c:showBubbleSize val="0"/>
            <c:showLeaderLines val="0"/>
          </c:dLbls>
          <c:cat>
            <c:multiLvlStrRef>
              <c:f>Sheet1!$A$2:$A$3</c:f>
              <c:multiLvlStrCache>
                <c:ptCount val="2"/>
                <c:lvl>
                  <c:pt idx="0">
                    <c:v>MRR</c:v>
                  </c:pt>
                  <c:pt idx="1">
                    <c:v>Precision@1</c:v>
                  </c:pt>
                </c:lvl>
              </c:multiLvlStrCache>
            </c:multiLvlStrRef>
          </c:cat>
          <c:val>
            <c:numRef>
              <c:f>Sheet1!$B$2:$B$3</c:f>
              <c:numCache>
                <c:formatCode>General</c:formatCode>
                <c:ptCount val="2"/>
                <c:pt idx="0">
                  <c:v>0.762</c:v>
                </c:pt>
                <c:pt idx="1">
                  <c:v>0.75</c:v>
                </c:pt>
              </c:numCache>
            </c:numRef>
          </c:val>
        </c:ser>
        <c:ser>
          <c:idx val="1"/>
          <c:order val="1"/>
          <c:tx>
            <c:strRef>
              <c:f>Sheet1!$C$1</c:f>
              <c:strCache>
                <c:ptCount val="1"/>
                <c:pt idx="0">
                  <c:v>After correction</c:v>
                </c:pt>
              </c:strCache>
            </c:strRef>
          </c:tx>
          <c:spPr>
            <a:solidFill>
              <a:srgbClr val="028090"/>
            </a:solidFill>
            <a:effectLst/>
          </c:spPr>
          <c:invertIfNegative val="0"/>
          <c:dLbls>
            <c:numFmt formatCode="0.000" sourceLinked="0"/>
            <c:txPr>
              <a:bodyPr/>
              <a:lstStyle/>
              <a:p>
                <a:pPr>
                  <a:defRPr b="0" i="0" strike="noStrike" sz="1100" u="none">
                    <a:solidFill>
                      <a:srgbClr val="36454F"/>
                    </a:solidFill>
                    <a:latin typeface="+mn-lt"/>
                  </a:defRPr>
                </a:pPr>
              </a:p>
            </c:txPr>
            <c:dLblPos val="outEnd"/>
            <c:showLegendKey val="0"/>
            <c:showVal val="1"/>
            <c:showCatName val="0"/>
            <c:showSerName val="0"/>
            <c:showPercent val="0"/>
            <c:showBubbleSize val="0"/>
            <c:showLeaderLines val="0"/>
          </c:dLbls>
          <c:cat>
            <c:multiLvlStrRef>
              <c:f>Sheet1!$A$2:$A$3</c:f>
              <c:multiLvlStrCache>
                <c:ptCount val="2"/>
                <c:lvl>
                  <c:pt idx="0">
                    <c:v>MRR</c:v>
                  </c:pt>
                  <c:pt idx="1">
                    <c:v>Precision@1</c:v>
                  </c:pt>
                </c:lvl>
              </c:multiLvlStrCache>
            </c:multiLvlStrRef>
          </c:cat>
          <c:val>
            <c:numRef>
              <c:f>Sheet1!$C$2:$C$3</c:f>
              <c:numCache>
                <c:formatCode>General</c:formatCode>
                <c:ptCount val="2"/>
                <c:pt idx="0">
                  <c:v>0.86</c:v>
                </c:pt>
                <c:pt idx="1">
                  <c:v>0.829</c:v>
                </c:pt>
              </c:numCache>
            </c:numRef>
          </c:val>
        </c:ser>
        <c:dLbls>
          <c:numFmt formatCode="0.000" sourceLinked="0"/>
          <c:txPr>
            <a:bodyPr/>
            <a:lstStyle/>
            <a:p>
              <a:pPr>
                <a:defRPr b="0" i="0" strike="noStrike" sz="1100" u="none">
                  <a:solidFill>
                    <a:srgbClr val="36454F"/>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5"/>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4E9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B7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One sentence: this is a working system deployed for Calamba City Hall that answers citizens' questions about services and then walks them to the right office.
Say up front what the deck does: where the project stands, what is proven with measurement, what is still open, and what I need to do next.
Keep this slide short -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modules in order, but stress the last line: individually these are known technologies. The claim is the chain - a natural-language question resolving to a department and then to a walkable route inside a specific building.
If asked why this matters: a citizen arriving at City Hall today has to ask a guard which floor to go to, and the guard may be wrong. This removes that step.
Note that analytics is a by-product of the chat, not a separate data-collection burden.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numbers to remember.
305 services and 31 of 31 offices matters because the online charter catalogue only publishes 235 services and leaves six offices empty - including Civil Registry and Treasury. Birth certificates and cedula were unanswerable. I traced that to the catalogue being JavaScript-rendered and recovered the missing offices from the per-office PDF charters.
0.860 MRR means the correct office is usually the top result.
Be honest and lead with the last line: objectives 1 to 3 are done, objective 4 is partly done. I will come back to exactly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deliberately about a mistake I found in my own work.
The original figure was 0.762. While auditing the test set I found five expected department names that matched no department in the corpus - so those queries were scored as failures regardless of output. After correcting the ground truth and retargeting three queries, the figure is 0.860 MRR and 0.829 Precision@1.
Make the methodological point explicitly: the system did not improve, the instrument did. Reporting the corrected figure with the audit trail is more defensible than quietly publishing the better number.
If the panel presses on remaining errors: five genuine misses remain, mostly services that sit between two offices, such as death registration being handled by Health rather than Civil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of this slide is that negative and corrective results are part of the contribution.
Reranker: everyone assumes you need one. I ran a clean ablation on the same pool and it made retrieval worse on both metrics. The residual errors are recall misses, which a reranker cannot fix by definition. So the pipeline has no reranker and that is an evidence-backed choice.
Corpus gap: it would have been easy to say the scraper was broken. It was not - the city simply does not publish those offices in the web catalogue. Finding the PDF charters is what made cedula and birth certificates answerable.
Routing: covered on the next slide.
If asked what is novel here - this is it, alongside the integration. Published LGU system papers rarely report a component they tested and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benchmarked the shipped routing against alternatives on the real bundled floor layouts - 40 single-floor and 35 cross-floor routes.
The worst problem is not speed, it is the stair choice. The code picks the nearest stair by straight-line distance on the current floor only, ignoring walls and ignoring where the destination is on the far floor. That is sub-optimal in 69% of cross-floor routes. The Mayor's Office on the third floor routes 157 cells where 59 would do - about 59 metres of unnecessary walking.
The turn count is the second problem and it is a user-experience problem. The interface shows one instruction at a time, so 26 turns means 26 instructions for a 47-metre walk. Penalising turns in the search cuts that to about 7 at identical path length - it costs nothing in distance.
One counterintuitive result: simply switching to A* makes turns worse, not better. Worth mentioning if anyone suggests it.
Land the closing line hard: this has to be fixed before the on-site navigation study, or the study will measure these defects instead of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slide. Presenting the gaps plainly is what makes the rest credible.
Gap one is the real one: zero human respondents so far. Everything in objective 4 other than retrieval depends on fielding the instruments. The consent form, task script, SUS and the ISO 25010 questionnaire are written and ready.
Gap two: honesty about dead reckoning. One recorded walk had a heading spread of 106 degrees where 20 would be acceptable indoors, and a straightness of 0.09 - the user walked one direction and the compass wandered through all four. QR anchoring is what makes the module usable right now. The fusion fix is specified with established citations and is a small piece of work.
Gap three: the questionnaire items are adapted from a psychometrically validated ISO 25010 instrument published this year in a Scopus-indexed journal. Because I changed the language, the system type and the population, I cannot inherit its reliability coefficients - I have to compute mine. The document records this item by item.
Expect a question on gap three. The answer is: a content-validity round with expert judges would upgrade it from adapted to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risks, each with a mitigation.
Provider risk is the one that has already bitten. The model I built on was moved to enterprise-only access and the live system stopped producing the office name. I diagnosed it and migrated to a different model, but the lesson stands - there is one external dependency with no fallback, and that is worth naming before someone asks.
Corpus staleness: the fix is a scheduled re-parse of the charter PDFs. The parser already exists, so this is scheduling, not new work.
Site access: this is the dependency I control least. Four offices still need their coordinates confirmed on site. If I run the navigation study before that, those routes will fail for reasons that have nothing to do with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The teal ones are quick wins; the grey ones are the substantial evaluation work.
Make the sequencing argument: steps 1 to 3 are each under a day of work and all three exist to protect step 4. The on-site study is the longest-lead item and the hardest to repeat, so it should only run once the routing is fixed and the coordinates are confirmed.
Step 1 is security housekeeping - credentials were handled carelessly during development on a live system and need rotating.
If asked which single item unblocks the most: step 4. Everything remaining in objective 4 except groundedness depends on having respondents and walk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one sentence: the build is done and running, and what is left is evaluation rather than engineering.
Then make the ask explicit - whatever you actually need from this audience. Likely candidates: approval to field the instruments, help securing site access and a schedule at City Hall, and confirmation of the remaining office coordinates.
Leave time for questions. The three most likely are: why no reranker, whether the instruments are validated, and how dead reckoning performs. All three are answered on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822960" y="1874520"/>
            <a:ext cx="201168" cy="201168"/>
          </a:xfrm>
          <a:prstGeom prst="rect">
            <a:avLst/>
          </a:prstGeom>
          <a:solidFill>
            <a:srgbClr val="028090"/>
          </a:solidFill>
          <a:ln/>
        </p:spPr>
      </p:sp>
      <p:sp>
        <p:nvSpPr>
          <p:cNvPr id="3" name="Text 1"/>
          <p:cNvSpPr/>
          <p:nvPr>
            <p:ph idx="101" type="title" hasCustomPrompt="1"/>
          </p:nvPr>
        </p:nvSpPr>
        <p:spPr>
          <a:xfrm>
            <a:off x="822960" y="2240280"/>
            <a:ext cx="1042416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822960" y="3886200"/>
            <a:ext cx="10424160" cy="1371600"/>
          </a:xfrm>
          <a:prstGeom prst="rect">
            <a:avLst/>
          </a:prstGeom>
          <a:noFill/>
          <a:ln/>
        </p:spPr>
        <p:txBody>
          <a:bodyPr wrap="square" rtlCol="0"/>
          <a:lstStyle>
            <a:lvl1pPr indent="0" marL="0">
              <a:buNone/>
              <a:defRPr lang="en-US" sz="1600" dirty="0">
                <a:solidFill>
                  <a:srgbClr val="C9D3D8"/>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30352"/>
            <a:ext cx="164592" cy="164592"/>
          </a:xfrm>
          <a:prstGeom prst="rect">
            <a:avLst/>
          </a:prstGeom>
          <a:solidFill>
            <a:srgbClr val="028090"/>
          </a:solidFill>
          <a:ln/>
        </p:spPr>
      </p:sp>
      <p:sp>
        <p:nvSpPr>
          <p:cNvPr id="3" name="Text 1"/>
          <p:cNvSpPr/>
          <p:nvPr>
            <p:ph idx="101" type="title" hasCustomPrompt="1"/>
          </p:nvPr>
        </p:nvSpPr>
        <p:spPr>
          <a:xfrm>
            <a:off x="950976" y="411480"/>
            <a:ext cx="1088136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1"/>
          <p:cNvSpPr txBox="1"/>
          <p:nvPr/>
        </p:nvSpPr>
        <p:spPr>
          <a:xfrm>
            <a:off x="640080" y="6327648"/>
            <a:ext cx="6400800" cy="274320"/>
          </a:xfrm>
          <a:prstGeom prst="rect">
            <a:avLst/>
          </a:prstGeom>
          <a:noFill/>
          <a:ln/>
        </p:spPr>
        <p:txBody>
          <a:bodyPr wrap="square" rtlCol="0" anchor="ctr"/>
          <a:lstStyle/>
          <a:p>
            <a:pPr indent="0" marL="0">
              <a:buNone/>
            </a:pPr>
            <a:r>
              <a:rPr lang="en-US" sz="1000" dirty="0">
                <a:solidFill>
                  <a:srgbClr val="8A9BA5"/>
                </a:solidFill>
              </a:rPr>
              <a:t>Geo-Agentic RAG  |  Calamba City Hall</a:t>
            </a:r>
            <a:endParaRPr lang="en-US" sz="1000" dirty="0"/>
          </a:p>
        </p:txBody>
      </p:sp>
      <p:sp>
        <p:nvSpPr>
          <p:cNvPr id="5" name="Text 2"/>
          <p:cNvSpPr/>
          <p:nvPr>
            <p:ph idx="103" type="chart" hasCustomPrompt="1"/>
          </p:nvPr>
        </p:nvSpPr>
        <p:spPr>
          <a:xfrm>
            <a:off x="640080" y="1463040"/>
            <a:ext cx="6492240" cy="4480560"/>
          </a:xfrm>
          <a:prstGeom prst="rect">
            <a:avLst/>
          </a:prstGeom>
          <a:noFill/>
          <a:ln/>
        </p:spPr>
        <p:txBody>
          <a:bodyPr wrap="square" rtlCol="0"/>
          <a:lstStyle>
            <a:lvl1pPr indent="0" marL="0">
              <a:buNone/>
              <a:defRPr lang="en-US" dirty="0">
                <a:solidFill>
                  <a:schemeClr val="tx1"/>
                </a:solidFill>
              </a:defRPr>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E">
    <p:bg>
      <p:bgPr>
        <a:solidFill>
          <a:srgbClr val="3645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424160" cy="21945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822960" y="4480560"/>
            <a:ext cx="10424160" cy="1097280"/>
          </a:xfrm>
          <a:prstGeom prst="rect">
            <a:avLst/>
          </a:prstGeom>
          <a:noFill/>
          <a:ln/>
        </p:spPr>
        <p:txBody>
          <a:bodyPr wrap="square" rtlCol="0"/>
          <a:lstStyle>
            <a:lvl1pPr indent="0" marL="0">
              <a:buNone/>
              <a:defRPr lang="en-US" sz="1500" dirty="0">
                <a:solidFill>
                  <a:srgbClr val="C9D3D8"/>
                </a:solidFill>
              </a:defRPr>
            </a:lvl1pPr>
          </a:lstStyle>
          <a:p>
            <a:pPr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822960" y="2240280"/>
            <a:ext cx="10424160" cy="1554480"/>
          </a:xfrm>
          <a:prstGeom prst="rect">
            <a:avLst/>
          </a:prstGeom>
          <a:noFill/>
          <a:ln/>
        </p:spPr>
        <p:txBody>
          <a:bodyPr wrap="square" rtlCol="0" anchor="t"/>
          <a:lstStyle/>
          <a:p>
            <a:pPr algn="l" indent="0" marL="0">
              <a:buNone/>
            </a:pPr>
            <a:r>
              <a:rPr lang="en-US" sz="4400" b="1" dirty="0">
                <a:solidFill>
                  <a:schemeClr val="bg1"/>
                </a:solidFill>
              </a:rPr>
              <a:t>Geo-Agentic RAG</a:t>
            </a:r>
            <a:endParaRPr lang="en-US" sz="4400" dirty="0"/>
          </a:p>
        </p:txBody>
      </p:sp>
      <p:sp>
        <p:nvSpPr>
          <p:cNvPr id="3" name="Text 1"/>
          <p:cNvSpPr/>
          <p:nvPr>
            <p:ph idx="102" type="body" hasCustomPrompt="1"/>
          </p:nvPr>
        </p:nvSpPr>
        <p:spPr>
          <a:xfrm>
            <a:off x="822960" y="3886200"/>
            <a:ext cx="10424160" cy="1371600"/>
          </a:xfrm>
          <a:prstGeom prst="rect">
            <a:avLst/>
          </a:prstGeom>
          <a:noFill/>
          <a:ln/>
        </p:spPr>
        <p:txBody>
          <a:bodyPr wrap="square" rtlCol="0" anchor="t"/>
          <a:lstStyle/>
          <a:p>
            <a:pPr indent="0" marL="0">
              <a:buNone/>
            </a:pPr>
            <a:r>
              <a:rPr lang="en-US" sz="1600" dirty="0">
                <a:solidFill>
                  <a:srgbClr val="C9D3D8"/>
                </a:solidFill>
              </a:rPr>
              <a:t>A Framework for Integrated Document Services, Wayfinding and Administrative Analytics for Local Government Offices</a:t>
            </a:r>
            <a:endParaRPr lang="en-US" sz="1600" dirty="0"/>
          </a:p>
          <a:p>
            <a:pPr indent="0" marL="0">
              <a:buNone/>
            </a:pPr>
            <a:r>
              <a:rPr lang="en-US" sz="1300" dirty="0">
                <a:solidFill>
                  <a:srgbClr val="8A9BA5"/>
                </a:solidFill>
              </a:rPr>
              <a:t>Jester C. Penaranda   ·   Doctor in Information Technology   ·   La Consolacion University Philippines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950976" y="411480"/>
            <a:ext cx="10881360" cy="685800"/>
          </a:xfrm>
          <a:prstGeom prst="rect">
            <a:avLst/>
          </a:prstGeom>
          <a:noFill/>
          <a:ln/>
        </p:spPr>
        <p:txBody>
          <a:bodyPr wrap="square" rtlCol="0" anchor="t"/>
          <a:lstStyle/>
          <a:p>
            <a:pPr algn="l" indent="0" marL="0">
              <a:buNone/>
            </a:pPr>
            <a:r>
              <a:rPr lang="en-US" sz="3200" b="1" dirty="0">
                <a:solidFill>
                  <a:schemeClr val="tx1"/>
                </a:solidFill>
              </a:rPr>
              <a:t>Three modules, one chain</a:t>
            </a:r>
            <a:endParaRPr lang="en-US" sz="3200" dirty="0"/>
          </a:p>
        </p:txBody>
      </p:sp>
      <p:sp>
        <p:nvSpPr>
          <p:cNvPr id="3" name="disc-1"/>
          <p:cNvSpPr/>
          <p:nvPr/>
        </p:nvSpPr>
        <p:spPr>
          <a:xfrm>
            <a:off x="731520" y="1554480"/>
            <a:ext cx="530352" cy="530352"/>
          </a:xfrm>
          <a:prstGeom prst="ellipse">
            <a:avLst/>
          </a:prstGeom>
          <a:solidFill>
            <a:srgbClr val="028090"/>
          </a:solidFill>
          <a:ln/>
        </p:spPr>
      </p:sp>
      <p:sp>
        <p:nvSpPr>
          <p:cNvPr id="4" name="discnum-2"/>
          <p:cNvSpPr txBox="1"/>
          <p:nvPr/>
        </p:nvSpPr>
        <p:spPr>
          <a:xfrm>
            <a:off x="731520" y="1554480"/>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head-3"/>
          <p:cNvSpPr txBox="1"/>
          <p:nvPr/>
        </p:nvSpPr>
        <p:spPr>
          <a:xfrm>
            <a:off x="1508760" y="1517904"/>
            <a:ext cx="10149840" cy="365760"/>
          </a:xfrm>
          <a:prstGeom prst="rect">
            <a:avLst/>
          </a:prstGeom>
          <a:noFill/>
          <a:ln/>
        </p:spPr>
        <p:txBody>
          <a:bodyPr wrap="square" lIns="0" tIns="0" rIns="0" bIns="0" rtlCol="0" anchor="ctr"/>
          <a:lstStyle/>
          <a:p>
            <a:pPr indent="0" marL="0">
              <a:buNone/>
            </a:pPr>
            <a:r>
              <a:rPr lang="en-US" sz="1900" b="1" dirty="0">
                <a:solidFill>
                  <a:schemeClr val="tx1"/>
                </a:solidFill>
              </a:rPr>
              <a:t>Document services (RAG)</a:t>
            </a:r>
            <a:endParaRPr lang="en-US" sz="1900" dirty="0"/>
          </a:p>
        </p:txBody>
      </p:sp>
      <p:sp>
        <p:nvSpPr>
          <p:cNvPr id="6" name="desc-4"/>
          <p:cNvSpPr txBox="1"/>
          <p:nvPr/>
        </p:nvSpPr>
        <p:spPr>
          <a:xfrm>
            <a:off x="1508760" y="1883664"/>
            <a:ext cx="10149840" cy="566928"/>
          </a:xfrm>
          <a:prstGeom prst="rect">
            <a:avLst/>
          </a:prstGeom>
          <a:noFill/>
          <a:ln/>
        </p:spPr>
        <p:txBody>
          <a:bodyPr wrap="square" lIns="0" tIns="0" rIns="0" bIns="0" rtlCol="0" anchor="t"/>
          <a:lstStyle/>
          <a:p>
            <a:pPr indent="0" marL="0">
              <a:buNone/>
            </a:pPr>
            <a:r>
              <a:rPr lang="en-US" sz="1400" dirty="0">
                <a:solidFill>
                  <a:srgbClr val="5A6B75"/>
                </a:solidFill>
              </a:rPr>
              <a:t>Citizens ask in their own words. Retrieval over the official Citizen’s Charter returns the requirements and names the responsible office.</a:t>
            </a:r>
            <a:endParaRPr lang="en-US" sz="1400" dirty="0"/>
          </a:p>
        </p:txBody>
      </p:sp>
      <p:sp>
        <p:nvSpPr>
          <p:cNvPr id="7" name="disc-5"/>
          <p:cNvSpPr/>
          <p:nvPr/>
        </p:nvSpPr>
        <p:spPr>
          <a:xfrm>
            <a:off x="731520" y="2880360"/>
            <a:ext cx="530352" cy="530352"/>
          </a:xfrm>
          <a:prstGeom prst="ellipse">
            <a:avLst/>
          </a:prstGeom>
          <a:solidFill>
            <a:srgbClr val="028090"/>
          </a:solidFill>
          <a:ln/>
        </p:spPr>
      </p:sp>
      <p:sp>
        <p:nvSpPr>
          <p:cNvPr id="8" name="discnum-6"/>
          <p:cNvSpPr txBox="1"/>
          <p:nvPr/>
        </p:nvSpPr>
        <p:spPr>
          <a:xfrm>
            <a:off x="731520" y="2880360"/>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head-7"/>
          <p:cNvSpPr txBox="1"/>
          <p:nvPr/>
        </p:nvSpPr>
        <p:spPr>
          <a:xfrm>
            <a:off x="1508760" y="2843784"/>
            <a:ext cx="10149840" cy="365760"/>
          </a:xfrm>
          <a:prstGeom prst="rect">
            <a:avLst/>
          </a:prstGeom>
          <a:noFill/>
          <a:ln/>
        </p:spPr>
        <p:txBody>
          <a:bodyPr wrap="square" lIns="0" tIns="0" rIns="0" bIns="0" rtlCol="0" anchor="ctr"/>
          <a:lstStyle/>
          <a:p>
            <a:pPr indent="0" marL="0">
              <a:buNone/>
            </a:pPr>
            <a:r>
              <a:rPr lang="en-US" sz="1900" b="1" dirty="0">
                <a:solidFill>
                  <a:schemeClr val="tx1"/>
                </a:solidFill>
              </a:rPr>
              <a:t>Indoor wayfinding</a:t>
            </a:r>
            <a:endParaRPr lang="en-US" sz="1900" dirty="0"/>
          </a:p>
        </p:txBody>
      </p:sp>
      <p:sp>
        <p:nvSpPr>
          <p:cNvPr id="10" name="desc-8"/>
          <p:cNvSpPr txBox="1"/>
          <p:nvPr/>
        </p:nvSpPr>
        <p:spPr>
          <a:xfrm>
            <a:off x="1508760" y="3209544"/>
            <a:ext cx="10149840" cy="566928"/>
          </a:xfrm>
          <a:prstGeom prst="rect">
            <a:avLst/>
          </a:prstGeom>
          <a:noFill/>
          <a:ln/>
        </p:spPr>
        <p:txBody>
          <a:bodyPr wrap="square" lIns="0" tIns="0" rIns="0" bIns="0" rtlCol="0" anchor="t"/>
          <a:lstStyle/>
          <a:p>
            <a:pPr indent="0" marL="0">
              <a:buNone/>
            </a:pPr>
            <a:r>
              <a:rPr lang="en-US" sz="1400" dirty="0">
                <a:solidFill>
                  <a:srgbClr val="5A6B75"/>
                </a:solidFill>
              </a:rPr>
              <a:t>The resolved office becomes a destination on a 75×75 grid across four floors. QR anchors fix position; dead reckoning is the backup.</a:t>
            </a:r>
            <a:endParaRPr lang="en-US" sz="1400" dirty="0"/>
          </a:p>
        </p:txBody>
      </p:sp>
      <p:sp>
        <p:nvSpPr>
          <p:cNvPr id="11" name="disc-9"/>
          <p:cNvSpPr/>
          <p:nvPr/>
        </p:nvSpPr>
        <p:spPr>
          <a:xfrm>
            <a:off x="731520" y="4206240"/>
            <a:ext cx="530352" cy="530352"/>
          </a:xfrm>
          <a:prstGeom prst="ellipse">
            <a:avLst/>
          </a:prstGeom>
          <a:solidFill>
            <a:srgbClr val="028090"/>
          </a:solidFill>
          <a:ln/>
        </p:spPr>
      </p:sp>
      <p:sp>
        <p:nvSpPr>
          <p:cNvPr id="12" name="discnum-10"/>
          <p:cNvSpPr txBox="1"/>
          <p:nvPr/>
        </p:nvSpPr>
        <p:spPr>
          <a:xfrm>
            <a:off x="731520" y="4206240"/>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3" name="head-11"/>
          <p:cNvSpPr txBox="1"/>
          <p:nvPr/>
        </p:nvSpPr>
        <p:spPr>
          <a:xfrm>
            <a:off x="1508760" y="4169664"/>
            <a:ext cx="10149840" cy="365760"/>
          </a:xfrm>
          <a:prstGeom prst="rect">
            <a:avLst/>
          </a:prstGeom>
          <a:noFill/>
          <a:ln/>
        </p:spPr>
        <p:txBody>
          <a:bodyPr wrap="square" lIns="0" tIns="0" rIns="0" bIns="0" rtlCol="0" anchor="ctr"/>
          <a:lstStyle/>
          <a:p>
            <a:pPr indent="0" marL="0">
              <a:buNone/>
            </a:pPr>
            <a:r>
              <a:rPr lang="en-US" sz="1900" b="1" dirty="0">
                <a:solidFill>
                  <a:schemeClr val="tx1"/>
                </a:solidFill>
              </a:rPr>
              <a:t>Administrative analytics</a:t>
            </a:r>
            <a:endParaRPr lang="en-US" sz="1900" dirty="0"/>
          </a:p>
        </p:txBody>
      </p:sp>
      <p:sp>
        <p:nvSpPr>
          <p:cNvPr id="14" name="desc-12"/>
          <p:cNvSpPr txBox="1"/>
          <p:nvPr/>
        </p:nvSpPr>
        <p:spPr>
          <a:xfrm>
            <a:off x="1508760" y="4535424"/>
            <a:ext cx="10149840" cy="566928"/>
          </a:xfrm>
          <a:prstGeom prst="rect">
            <a:avLst/>
          </a:prstGeom>
          <a:noFill/>
          <a:ln/>
        </p:spPr>
        <p:txBody>
          <a:bodyPr wrap="square" lIns="0" tIns="0" rIns="0" bIns="0" rtlCol="0" anchor="t"/>
          <a:lstStyle/>
          <a:p>
            <a:pPr indent="0" marL="0">
              <a:buNone/>
            </a:pPr>
            <a:r>
              <a:rPr lang="en-US" sz="1400" dirty="0">
                <a:solidFill>
                  <a:srgbClr val="5A6B75"/>
                </a:solidFill>
              </a:rPr>
              <a:t>Anonymous query logs show which services citizens actually ask for, giving the city demand data it did not previously have.</a:t>
            </a:r>
            <a:endParaRPr lang="en-US" sz="1400" dirty="0"/>
          </a:p>
        </p:txBody>
      </p:sp>
      <p:sp>
        <p:nvSpPr>
          <p:cNvPr id="15" name="kicker-13"/>
          <p:cNvSpPr txBox="1"/>
          <p:nvPr/>
        </p:nvSpPr>
        <p:spPr>
          <a:xfrm>
            <a:off x="731520" y="5440680"/>
            <a:ext cx="10881360" cy="365760"/>
          </a:xfrm>
          <a:prstGeom prst="rect">
            <a:avLst/>
          </a:prstGeom>
          <a:noFill/>
          <a:ln/>
        </p:spPr>
        <p:txBody>
          <a:bodyPr wrap="square" lIns="0" tIns="0" rIns="0" bIns="0" rtlCol="0" anchor="ctr"/>
          <a:lstStyle/>
          <a:p>
            <a:pPr indent="0" marL="0">
              <a:buNone/>
            </a:pPr>
            <a:r>
              <a:rPr lang="en-US" sz="1400" i="1" dirty="0">
                <a:solidFill>
                  <a:srgbClr val="028090"/>
                </a:solidFill>
              </a:rPr>
              <a:t>The integration is the contribution — one answer carries straight into one route.</a:t>
            </a:r>
            <a:endParaRPr lang="en-US" sz="1400" dirty="0"/>
          </a:p>
        </p:txBody>
      </p:sp>
      <p:sp>
        <p:nvSpPr>
          <p:cNvPr id="17" name="Text 2"/>
          <p:cNvSpPr/>
          <p:nvPr>
            <p:ph idx="103" type="chart" hasCustomPrompt="1"/>
          </p:nvPr>
        </p:nvSpPr>
        <p:spPr>
          <a:xfrm>
            <a:off x="640080" y="1463040"/>
            <a:ext cx="6492240" cy="4480560"/>
          </a:xfrm>
          <a:prstGeom prst="rect">
            <a:avLst/>
          </a:prstGeom>
          <a:noFill/>
          <a:ln/>
        </p:spPr>
        <p:txBody>
          <a:bodyPr wrap="square" rtlCol="0"/>
          <a:lstStyle/>
          <a:p>
            <a:pPr indent="0" marL="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950976" y="411480"/>
            <a:ext cx="10881360" cy="685800"/>
          </a:xfrm>
          <a:prstGeom prst="rect">
            <a:avLst/>
          </a:prstGeom>
          <a:noFill/>
          <a:ln/>
        </p:spPr>
        <p:txBody>
          <a:bodyPr wrap="square" rtlCol="0" anchor="t"/>
          <a:lstStyle/>
          <a:p>
            <a:pPr algn="l" indent="0" marL="0">
              <a:buNone/>
            </a:pPr>
            <a:r>
              <a:rPr lang="en-US" sz="3200" b="1" dirty="0">
                <a:solidFill>
                  <a:schemeClr val="tx1"/>
                </a:solidFill>
              </a:rPr>
              <a:t>Where it stands today</a:t>
            </a:r>
            <a:endParaRPr lang="en-US" sz="3200" dirty="0"/>
          </a:p>
        </p:txBody>
      </p:sp>
      <p:sp>
        <p:nvSpPr>
          <p:cNvPr id="3" name="statcard-14"/>
          <p:cNvSpPr/>
          <p:nvPr/>
        </p:nvSpPr>
        <p:spPr>
          <a:xfrm>
            <a:off x="640080" y="1783080"/>
            <a:ext cx="2411730" cy="2057400"/>
          </a:xfrm>
          <a:prstGeom prst="roundRect">
            <a:avLst>
              <a:gd name="adj" fmla="val 2667"/>
            </a:avLst>
          </a:prstGeom>
          <a:solidFill>
            <a:srgbClr val="F2F2F2"/>
          </a:solidFill>
          <a:ln w="12700">
            <a:solidFill>
              <a:srgbClr val="F2F2F2"/>
            </a:solidFill>
            <a:prstDash val="solid"/>
          </a:ln>
        </p:spPr>
      </p:sp>
      <p:sp>
        <p:nvSpPr>
          <p:cNvPr id="4" name="statval-15"/>
          <p:cNvSpPr txBox="1"/>
          <p:nvPr/>
        </p:nvSpPr>
        <p:spPr>
          <a:xfrm>
            <a:off x="822960" y="2093976"/>
            <a:ext cx="2045970" cy="868680"/>
          </a:xfrm>
          <a:prstGeom prst="rect">
            <a:avLst/>
          </a:prstGeom>
          <a:noFill/>
          <a:ln/>
        </p:spPr>
        <p:txBody>
          <a:bodyPr wrap="square" lIns="0" tIns="0" rIns="0" bIns="0" rtlCol="0" anchor="ctr"/>
          <a:lstStyle/>
          <a:p>
            <a:pPr algn="l" indent="0" marL="0">
              <a:buNone/>
            </a:pPr>
            <a:r>
              <a:rPr lang="en-US" sz="4200" b="1" dirty="0">
                <a:solidFill>
                  <a:srgbClr val="028090"/>
                </a:solidFill>
              </a:rPr>
              <a:t>305</a:t>
            </a:r>
            <a:endParaRPr lang="en-US" sz="4200" dirty="0"/>
          </a:p>
        </p:txBody>
      </p:sp>
      <p:sp>
        <p:nvSpPr>
          <p:cNvPr id="5" name="statlbl-16"/>
          <p:cNvSpPr txBox="1"/>
          <p:nvPr/>
        </p:nvSpPr>
        <p:spPr>
          <a:xfrm>
            <a:off x="822960" y="3026664"/>
            <a:ext cx="2045970" cy="658368"/>
          </a:xfrm>
          <a:prstGeom prst="rect">
            <a:avLst/>
          </a:prstGeom>
          <a:noFill/>
          <a:ln/>
        </p:spPr>
        <p:txBody>
          <a:bodyPr wrap="square" lIns="0" tIns="0" rIns="0" bIns="0" rtlCol="0" anchor="t"/>
          <a:lstStyle/>
          <a:p>
            <a:pPr indent="0" marL="0">
              <a:buNone/>
            </a:pPr>
            <a:r>
              <a:rPr lang="en-US" sz="1250" dirty="0">
                <a:solidFill>
                  <a:srgbClr val="5A6B75"/>
                </a:solidFill>
              </a:rPr>
              <a:t>services indexed, from the official Citizen’s Charter</a:t>
            </a:r>
            <a:endParaRPr lang="en-US" sz="1250" dirty="0"/>
          </a:p>
        </p:txBody>
      </p:sp>
      <p:sp>
        <p:nvSpPr>
          <p:cNvPr id="6" name="statcard-17"/>
          <p:cNvSpPr/>
          <p:nvPr/>
        </p:nvSpPr>
        <p:spPr>
          <a:xfrm>
            <a:off x="3463290" y="1783080"/>
            <a:ext cx="2411730" cy="2057400"/>
          </a:xfrm>
          <a:prstGeom prst="roundRect">
            <a:avLst>
              <a:gd name="adj" fmla="val 2667"/>
            </a:avLst>
          </a:prstGeom>
          <a:solidFill>
            <a:srgbClr val="F2F2F2"/>
          </a:solidFill>
          <a:ln w="12700">
            <a:solidFill>
              <a:srgbClr val="F2F2F2"/>
            </a:solidFill>
            <a:prstDash val="solid"/>
          </a:ln>
        </p:spPr>
      </p:sp>
      <p:sp>
        <p:nvSpPr>
          <p:cNvPr id="7" name="statval-18"/>
          <p:cNvSpPr txBox="1"/>
          <p:nvPr/>
        </p:nvSpPr>
        <p:spPr>
          <a:xfrm>
            <a:off x="3646170" y="2093976"/>
            <a:ext cx="2045970" cy="868680"/>
          </a:xfrm>
          <a:prstGeom prst="rect">
            <a:avLst/>
          </a:prstGeom>
          <a:noFill/>
          <a:ln/>
        </p:spPr>
        <p:txBody>
          <a:bodyPr wrap="square" lIns="0" tIns="0" rIns="0" bIns="0" rtlCol="0" anchor="ctr"/>
          <a:lstStyle/>
          <a:p>
            <a:pPr algn="l" indent="0" marL="0">
              <a:buNone/>
            </a:pPr>
            <a:r>
              <a:rPr lang="en-US" sz="4200" b="1" dirty="0">
                <a:solidFill>
                  <a:srgbClr val="028090"/>
                </a:solidFill>
              </a:rPr>
              <a:t>31 / 31</a:t>
            </a:r>
            <a:endParaRPr lang="en-US" sz="4200" dirty="0"/>
          </a:p>
        </p:txBody>
      </p:sp>
      <p:sp>
        <p:nvSpPr>
          <p:cNvPr id="8" name="statlbl-19"/>
          <p:cNvSpPr txBox="1"/>
          <p:nvPr/>
        </p:nvSpPr>
        <p:spPr>
          <a:xfrm>
            <a:off x="3646170" y="3026664"/>
            <a:ext cx="2045970" cy="658368"/>
          </a:xfrm>
          <a:prstGeom prst="rect">
            <a:avLst/>
          </a:prstGeom>
          <a:noFill/>
          <a:ln/>
        </p:spPr>
        <p:txBody>
          <a:bodyPr wrap="square" lIns="0" tIns="0" rIns="0" bIns="0" rtlCol="0" anchor="t"/>
          <a:lstStyle/>
          <a:p>
            <a:pPr indent="0" marL="0">
              <a:buNone/>
            </a:pPr>
            <a:r>
              <a:rPr lang="en-US" sz="1250" dirty="0">
                <a:solidFill>
                  <a:srgbClr val="5A6B75"/>
                </a:solidFill>
              </a:rPr>
              <a:t>city offices covered — no office left unrepresented</a:t>
            </a:r>
            <a:endParaRPr lang="en-US" sz="1250" dirty="0"/>
          </a:p>
        </p:txBody>
      </p:sp>
      <p:sp>
        <p:nvSpPr>
          <p:cNvPr id="9" name="statcard-20"/>
          <p:cNvSpPr/>
          <p:nvPr/>
        </p:nvSpPr>
        <p:spPr>
          <a:xfrm>
            <a:off x="6286500" y="1783080"/>
            <a:ext cx="2411730" cy="2057400"/>
          </a:xfrm>
          <a:prstGeom prst="roundRect">
            <a:avLst>
              <a:gd name="adj" fmla="val 2667"/>
            </a:avLst>
          </a:prstGeom>
          <a:solidFill>
            <a:srgbClr val="F2F2F2"/>
          </a:solidFill>
          <a:ln w="12700">
            <a:solidFill>
              <a:srgbClr val="F2F2F2"/>
            </a:solidFill>
            <a:prstDash val="solid"/>
          </a:ln>
        </p:spPr>
      </p:sp>
      <p:sp>
        <p:nvSpPr>
          <p:cNvPr id="10" name="statval-21"/>
          <p:cNvSpPr txBox="1"/>
          <p:nvPr/>
        </p:nvSpPr>
        <p:spPr>
          <a:xfrm>
            <a:off x="6469380" y="2093976"/>
            <a:ext cx="2045970" cy="868680"/>
          </a:xfrm>
          <a:prstGeom prst="rect">
            <a:avLst/>
          </a:prstGeom>
          <a:noFill/>
          <a:ln/>
        </p:spPr>
        <p:txBody>
          <a:bodyPr wrap="square" lIns="0" tIns="0" rIns="0" bIns="0" rtlCol="0" anchor="ctr"/>
          <a:lstStyle/>
          <a:p>
            <a:pPr algn="l" indent="0" marL="0">
              <a:buNone/>
            </a:pPr>
            <a:r>
              <a:rPr lang="en-US" sz="4200" b="1" dirty="0">
                <a:solidFill>
                  <a:srgbClr val="028090"/>
                </a:solidFill>
              </a:rPr>
              <a:t>0.860</a:t>
            </a:r>
            <a:endParaRPr lang="en-US" sz="4200" dirty="0"/>
          </a:p>
        </p:txBody>
      </p:sp>
      <p:sp>
        <p:nvSpPr>
          <p:cNvPr id="11" name="statlbl-22"/>
          <p:cNvSpPr txBox="1"/>
          <p:nvPr/>
        </p:nvSpPr>
        <p:spPr>
          <a:xfrm>
            <a:off x="6469380" y="3026664"/>
            <a:ext cx="2045970" cy="658368"/>
          </a:xfrm>
          <a:prstGeom prst="rect">
            <a:avLst/>
          </a:prstGeom>
          <a:noFill/>
          <a:ln/>
        </p:spPr>
        <p:txBody>
          <a:bodyPr wrap="square" lIns="0" tIns="0" rIns="0" bIns="0" rtlCol="0" anchor="t"/>
          <a:lstStyle/>
          <a:p>
            <a:pPr indent="0" marL="0">
              <a:buNone/>
            </a:pPr>
            <a:r>
              <a:rPr lang="en-US" sz="1250" dirty="0">
                <a:solidFill>
                  <a:srgbClr val="5A6B75"/>
                </a:solidFill>
              </a:rPr>
              <a:t>retrieval MRR on the corrected 35-query test set</a:t>
            </a:r>
            <a:endParaRPr lang="en-US" sz="1250" dirty="0"/>
          </a:p>
        </p:txBody>
      </p:sp>
      <p:sp>
        <p:nvSpPr>
          <p:cNvPr id="12" name="statcard-23"/>
          <p:cNvSpPr/>
          <p:nvPr/>
        </p:nvSpPr>
        <p:spPr>
          <a:xfrm>
            <a:off x="9109710" y="1783080"/>
            <a:ext cx="2411730" cy="2057400"/>
          </a:xfrm>
          <a:prstGeom prst="roundRect">
            <a:avLst>
              <a:gd name="adj" fmla="val 2667"/>
            </a:avLst>
          </a:prstGeom>
          <a:solidFill>
            <a:srgbClr val="F2F2F2"/>
          </a:solidFill>
          <a:ln w="12700">
            <a:solidFill>
              <a:srgbClr val="F2F2F2"/>
            </a:solidFill>
            <a:prstDash val="solid"/>
          </a:ln>
        </p:spPr>
      </p:sp>
      <p:sp>
        <p:nvSpPr>
          <p:cNvPr id="13" name="statval-24"/>
          <p:cNvSpPr txBox="1"/>
          <p:nvPr/>
        </p:nvSpPr>
        <p:spPr>
          <a:xfrm>
            <a:off x="9292590" y="2093976"/>
            <a:ext cx="2045970" cy="868680"/>
          </a:xfrm>
          <a:prstGeom prst="rect">
            <a:avLst/>
          </a:prstGeom>
          <a:noFill/>
          <a:ln/>
        </p:spPr>
        <p:txBody>
          <a:bodyPr wrap="square" lIns="0" tIns="0" rIns="0" bIns="0" rtlCol="0" anchor="ctr"/>
          <a:lstStyle/>
          <a:p>
            <a:pPr algn="l" indent="0" marL="0">
              <a:buNone/>
            </a:pPr>
            <a:r>
              <a:rPr lang="en-US" sz="4200" b="1" dirty="0">
                <a:solidFill>
                  <a:srgbClr val="028090"/>
                </a:solidFill>
              </a:rPr>
              <a:t>6 / 6</a:t>
            </a:r>
            <a:endParaRPr lang="en-US" sz="4200" dirty="0"/>
          </a:p>
        </p:txBody>
      </p:sp>
      <p:sp>
        <p:nvSpPr>
          <p:cNvPr id="14" name="statlbl-25"/>
          <p:cNvSpPr txBox="1"/>
          <p:nvPr/>
        </p:nvSpPr>
        <p:spPr>
          <a:xfrm>
            <a:off x="9292590" y="3026664"/>
            <a:ext cx="2045970" cy="658368"/>
          </a:xfrm>
          <a:prstGeom prst="rect">
            <a:avLst/>
          </a:prstGeom>
          <a:noFill/>
          <a:ln/>
        </p:spPr>
        <p:txBody>
          <a:bodyPr wrap="square" lIns="0" tIns="0" rIns="0" bIns="0" rtlCol="0" anchor="t"/>
          <a:lstStyle/>
          <a:p>
            <a:pPr indent="0" marL="0">
              <a:buNone/>
            </a:pPr>
            <a:r>
              <a:rPr lang="en-US" sz="1250" dirty="0">
                <a:solidFill>
                  <a:srgbClr val="5A6B75"/>
                </a:solidFill>
              </a:rPr>
              <a:t>live health checks passing on the deployed stack</a:t>
            </a:r>
            <a:endParaRPr lang="en-US" sz="1250" dirty="0"/>
          </a:p>
        </p:txBody>
      </p:sp>
      <p:sp>
        <p:nvSpPr>
          <p:cNvPr id="15" name="substat-26"/>
          <p:cNvSpPr txBox="1"/>
          <p:nvPr/>
        </p:nvSpPr>
        <p:spPr>
          <a:xfrm>
            <a:off x="640080" y="4160520"/>
            <a:ext cx="10881360" cy="365760"/>
          </a:xfrm>
          <a:prstGeom prst="rect">
            <a:avLst/>
          </a:prstGeom>
          <a:noFill/>
          <a:ln/>
        </p:spPr>
        <p:txBody>
          <a:bodyPr wrap="square" lIns="0" tIns="0" rIns="0" bIns="0" rtlCol="0" anchor="ctr"/>
          <a:lstStyle/>
          <a:p>
            <a:pPr indent="0" marL="0">
              <a:buNone/>
            </a:pPr>
            <a:r>
              <a:rPr lang="en-US" sz="1400" dirty="0">
                <a:solidFill>
                  <a:srgbClr val="5A6B75"/>
                </a:solidFill>
              </a:rPr>
              <a:t>Live at penaranda-dissertation.vercel.app  ·  about 2–3 s per answer  ·  roughly ₱0.03 per query</a:t>
            </a:r>
            <a:endParaRPr lang="en-US" sz="1400" dirty="0"/>
          </a:p>
        </p:txBody>
      </p:sp>
      <p:sp>
        <p:nvSpPr>
          <p:cNvPr id="16" name="sopline-27"/>
          <p:cNvSpPr txBox="1"/>
          <p:nvPr/>
        </p:nvSpPr>
        <p:spPr>
          <a:xfrm>
            <a:off x="640080" y="4892040"/>
            <a:ext cx="10881360" cy="457200"/>
          </a:xfrm>
          <a:prstGeom prst="rect">
            <a:avLst/>
          </a:prstGeom>
          <a:noFill/>
          <a:ln/>
        </p:spPr>
        <p:txBody>
          <a:bodyPr wrap="square" lIns="0" tIns="0" rIns="0" bIns="0" rtlCol="0" anchor="ctr"/>
          <a:lstStyle/>
          <a:p>
            <a:pPr indent="0" marL="0">
              <a:buNone/>
            </a:pPr>
            <a:r>
              <a:rPr lang="en-US" sz="1700" b="1" dirty="0">
                <a:solidFill>
                  <a:schemeClr val="tx1"/>
                </a:solidFill>
              </a:rPr>
              <a:t>Objectives 1 to 3 are met. Objective 4 — evaluation — is where the remaining work sits.</a:t>
            </a:r>
            <a:endParaRPr lang="en-US" sz="1700" dirty="0"/>
          </a:p>
        </p:txBody>
      </p:sp>
      <p:sp>
        <p:nvSpPr>
          <p:cNvPr id="18" name="Text 2"/>
          <p:cNvSpPr/>
          <p:nvPr>
            <p:ph idx="103" type="chart" hasCustomPrompt="1"/>
          </p:nvPr>
        </p:nvSpPr>
        <p:spPr>
          <a:xfrm>
            <a:off x="640080" y="1463040"/>
            <a:ext cx="6492240" cy="4480560"/>
          </a:xfrm>
          <a:prstGeom prst="rect">
            <a:avLst/>
          </a:prstGeom>
          <a:noFill/>
          <a:ln/>
        </p:spPr>
        <p:txBody>
          <a:bodyPr wrap="square" rtlCol="0"/>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950976" y="411480"/>
            <a:ext cx="10881360" cy="685800"/>
          </a:xfrm>
          <a:prstGeom prst="rect">
            <a:avLst/>
          </a:prstGeom>
          <a:noFill/>
          <a:ln/>
        </p:spPr>
        <p:txBody>
          <a:bodyPr wrap="square" rtlCol="0" anchor="t"/>
          <a:lstStyle/>
          <a:p>
            <a:pPr algn="l" indent="0" marL="0">
              <a:buNone/>
            </a:pPr>
            <a:r>
              <a:rPr lang="en-US" sz="3200" b="1" dirty="0">
                <a:solidFill>
                  <a:schemeClr val="tx1"/>
                </a:solidFill>
              </a:rPr>
              <a:t>Retrieval quality, after fixing the measurement</a:t>
            </a:r>
            <a:endParaRPr lang="en-US" sz="3200" dirty="0"/>
          </a:p>
        </p:txBody>
      </p:sp>
      <p:graphicFrame>
        <p:nvGraphicFramePr>
          <p:cNvPr id="3" name="retrievalchart-28" descr=""/>
          <p:cNvGraphicFramePr/>
          <p:nvPr>
            <p:ph idx="103" type="chart" hasCustomPrompt="1"/>
          </p:nvPr>
        </p:nvGraphicFramePr>
        <p:xfrm>
          <a:off x="640080" y="1463040"/>
          <a:ext cx="6492240" cy="4480560"/>
        </p:xfrm>
        <a:graphic xmlns:a="http://schemas.openxmlformats.org/drawingml/2006/main">
          <a:graphicData uri="http://schemas.openxmlformats.org/drawingml/2006/chart">
            <c:chart xmlns:c="http://schemas.openxmlformats.org/drawingml/2006/chart" r:id="rId1"/>
          </a:graphicData>
        </a:graphic>
      </p:graphicFrame>
      <p:sp>
        <p:nvSpPr>
          <p:cNvPr id="4" name="chead-29"/>
          <p:cNvSpPr txBox="1"/>
          <p:nvPr/>
        </p:nvSpPr>
        <p:spPr>
          <a:xfrm>
            <a:off x="7406640" y="1572768"/>
            <a:ext cx="4114800" cy="320040"/>
          </a:xfrm>
          <a:prstGeom prst="rect">
            <a:avLst/>
          </a:prstGeom>
          <a:noFill/>
          <a:ln/>
        </p:spPr>
        <p:txBody>
          <a:bodyPr wrap="square" lIns="0" tIns="0" rIns="0" bIns="0" rtlCol="0" anchor="ctr"/>
          <a:lstStyle/>
          <a:p>
            <a:pPr indent="0" marL="0">
              <a:buNone/>
            </a:pPr>
            <a:r>
              <a:rPr lang="en-US" sz="1600" b="1" dirty="0">
                <a:solidFill>
                  <a:srgbClr val="028090"/>
                </a:solidFill>
              </a:rPr>
              <a:t>What changed</a:t>
            </a:r>
            <a:endParaRPr lang="en-US" sz="1600" dirty="0"/>
          </a:p>
        </p:txBody>
      </p:sp>
      <p:sp>
        <p:nvSpPr>
          <p:cNvPr id="5" name="cbody-30"/>
          <p:cNvSpPr txBox="1"/>
          <p:nvPr/>
        </p:nvSpPr>
        <p:spPr>
          <a:xfrm>
            <a:off x="7406640" y="1993392"/>
            <a:ext cx="4114800" cy="310896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5A6B75"/>
                </a:solidFill>
              </a:rPr>
              <a:t>Five expected office names in my own test set matched nothing in the corpus, so those queries scored zero no matter what the system returned.</a:t>
            </a:r>
            <a:endParaRPr lang="en-US" sz="1350" dirty="0"/>
          </a:p>
          <a:p>
            <a:pPr marL="342900" indent="-342900">
              <a:spcAft>
                <a:spcPts val="900"/>
              </a:spcAft>
              <a:buSzPct val="100000"/>
              <a:buChar char="•"/>
            </a:pPr>
            <a:r>
              <a:rPr lang="en-US" sz="1350" dirty="0">
                <a:solidFill>
                  <a:srgbClr val="5A6B75"/>
                </a:solidFill>
              </a:rPr>
              <a:t>Correcting the ground truth moved MRR from 0.762 to 0.860.</a:t>
            </a:r>
            <a:endParaRPr lang="en-US" sz="1350" dirty="0"/>
          </a:p>
          <a:p>
            <a:pPr marL="342900" indent="-342900">
              <a:spcAft>
                <a:spcPts val="900"/>
              </a:spcAft>
              <a:buSzPct val="100000"/>
              <a:buChar char="•"/>
            </a:pPr>
            <a:r>
              <a:rPr lang="en-US" sz="1350" dirty="0">
                <a:solidFill>
                  <a:srgbClr val="5A6B75"/>
                </a:solidFill>
              </a:rPr>
              <a:t>The system did not change. The measurement was wrong.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950976" y="411480"/>
            <a:ext cx="10881360" cy="685800"/>
          </a:xfrm>
          <a:prstGeom prst="rect">
            <a:avLst/>
          </a:prstGeom>
          <a:noFill/>
          <a:ln/>
        </p:spPr>
        <p:txBody>
          <a:bodyPr wrap="square" rtlCol="0" anchor="t"/>
          <a:lstStyle/>
          <a:p>
            <a:pPr algn="l" indent="0" marL="0">
              <a:buNone/>
            </a:pPr>
            <a:r>
              <a:rPr lang="en-US" sz="3200" b="1" dirty="0">
                <a:solidFill>
                  <a:schemeClr val="tx1"/>
                </a:solidFill>
              </a:rPr>
              <a:t>Decisions made by measurement, not assumption</a:t>
            </a:r>
            <a:endParaRPr lang="en-US" sz="3200" dirty="0"/>
          </a:p>
        </p:txBody>
      </p:sp>
      <p:sp>
        <p:nvSpPr>
          <p:cNvPr id="3" name="card-31"/>
          <p:cNvSpPr/>
          <p:nvPr/>
        </p:nvSpPr>
        <p:spPr>
          <a:xfrm>
            <a:off x="640080" y="1600200"/>
            <a:ext cx="3383280" cy="2697480"/>
          </a:xfrm>
          <a:prstGeom prst="roundRect">
            <a:avLst>
              <a:gd name="adj" fmla="val 1695"/>
            </a:avLst>
          </a:prstGeom>
          <a:solidFill>
            <a:srgbClr val="F2F2F2"/>
          </a:solidFill>
          <a:ln w="12700">
            <a:solidFill>
              <a:srgbClr val="F2F2F2"/>
            </a:solidFill>
            <a:prstDash val="solid"/>
          </a:ln>
        </p:spPr>
      </p:sp>
      <p:sp>
        <p:nvSpPr>
          <p:cNvPr id="4" name="cardhead-32"/>
          <p:cNvSpPr txBox="1"/>
          <p:nvPr/>
        </p:nvSpPr>
        <p:spPr>
          <a:xfrm>
            <a:off x="877824" y="1819656"/>
            <a:ext cx="2926080" cy="384048"/>
          </a:xfrm>
          <a:prstGeom prst="rect">
            <a:avLst/>
          </a:prstGeom>
          <a:noFill/>
          <a:ln/>
        </p:spPr>
        <p:txBody>
          <a:bodyPr wrap="square" lIns="0" tIns="0" rIns="0" bIns="0" rtlCol="0" anchor="ctr"/>
          <a:lstStyle/>
          <a:p>
            <a:pPr indent="0" marL="0">
              <a:buNone/>
            </a:pPr>
            <a:r>
              <a:rPr lang="en-US" sz="1600" b="1" dirty="0">
                <a:solidFill>
                  <a:srgbClr val="028090"/>
                </a:solidFill>
              </a:rPr>
              <a:t>The reranker was removed</a:t>
            </a:r>
            <a:endParaRPr lang="en-US" sz="1600" dirty="0"/>
          </a:p>
        </p:txBody>
      </p:sp>
      <p:sp>
        <p:nvSpPr>
          <p:cNvPr id="5" name="cardbody-33"/>
          <p:cNvSpPr txBox="1"/>
          <p:nvPr/>
        </p:nvSpPr>
        <p:spPr>
          <a:xfrm>
            <a:off x="877824" y="2295144"/>
            <a:ext cx="2926080" cy="178308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A6B75"/>
                </a:solidFill>
              </a:rPr>
              <a:t>A reranker is standard in RAG pipelines.</a:t>
            </a:r>
            <a:endParaRPr lang="en-US" sz="1350" dirty="0"/>
          </a:p>
          <a:p>
            <a:pPr marL="342900" indent="-342900">
              <a:spcAft>
                <a:spcPts val="700"/>
              </a:spcAft>
              <a:buSzPct val="100000"/>
              <a:buChar char="•"/>
            </a:pPr>
            <a:r>
              <a:rPr lang="en-US" sz="1350" dirty="0">
                <a:solidFill>
                  <a:srgbClr val="5A6B75"/>
                </a:solidFill>
              </a:rPr>
              <a:t>Ablation on the same retrieval pool: MRR fell 0.768 to 0.671, P@1 fell 0.750 to 0.571.</a:t>
            </a:r>
            <a:endParaRPr lang="en-US" sz="1350" dirty="0"/>
          </a:p>
          <a:p>
            <a:pPr marL="342900" indent="-342900">
              <a:spcAft>
                <a:spcPts val="700"/>
              </a:spcAft>
              <a:buSzPct val="100000"/>
              <a:buChar char="•"/>
            </a:pPr>
            <a:r>
              <a:rPr lang="en-US" sz="1350" dirty="0">
                <a:solidFill>
                  <a:srgbClr val="5A6B75"/>
                </a:solidFill>
              </a:rPr>
              <a:t>It was measured and rejected, not skipped.</a:t>
            </a:r>
            <a:endParaRPr lang="en-US" sz="1350" dirty="0"/>
          </a:p>
        </p:txBody>
      </p:sp>
      <p:sp>
        <p:nvSpPr>
          <p:cNvPr id="6" name="card-34"/>
          <p:cNvSpPr/>
          <p:nvPr/>
        </p:nvSpPr>
        <p:spPr>
          <a:xfrm>
            <a:off x="4389120" y="1600200"/>
            <a:ext cx="3383280" cy="2697480"/>
          </a:xfrm>
          <a:prstGeom prst="roundRect">
            <a:avLst>
              <a:gd name="adj" fmla="val 1695"/>
            </a:avLst>
          </a:prstGeom>
          <a:solidFill>
            <a:srgbClr val="F2F2F2"/>
          </a:solidFill>
          <a:ln w="12700">
            <a:solidFill>
              <a:srgbClr val="F2F2F2"/>
            </a:solidFill>
            <a:prstDash val="solid"/>
          </a:ln>
        </p:spPr>
      </p:sp>
      <p:sp>
        <p:nvSpPr>
          <p:cNvPr id="7" name="cardhead-35"/>
          <p:cNvSpPr txBox="1"/>
          <p:nvPr/>
        </p:nvSpPr>
        <p:spPr>
          <a:xfrm>
            <a:off x="4626864" y="1819656"/>
            <a:ext cx="2926080" cy="384048"/>
          </a:xfrm>
          <a:prstGeom prst="rect">
            <a:avLst/>
          </a:prstGeom>
          <a:noFill/>
          <a:ln/>
        </p:spPr>
        <p:txBody>
          <a:bodyPr wrap="square" lIns="0" tIns="0" rIns="0" bIns="0" rtlCol="0" anchor="ctr"/>
          <a:lstStyle/>
          <a:p>
            <a:pPr indent="0" marL="0">
              <a:buNone/>
            </a:pPr>
            <a:r>
              <a:rPr lang="en-US" sz="1600" b="1" dirty="0">
                <a:solidFill>
                  <a:srgbClr val="028090"/>
                </a:solidFill>
              </a:rPr>
              <a:t>The corpus gap was root-caused</a:t>
            </a:r>
            <a:endParaRPr lang="en-US" sz="1600" dirty="0"/>
          </a:p>
        </p:txBody>
      </p:sp>
      <p:sp>
        <p:nvSpPr>
          <p:cNvPr id="8" name="cardbody-36"/>
          <p:cNvSpPr txBox="1"/>
          <p:nvPr/>
        </p:nvSpPr>
        <p:spPr>
          <a:xfrm>
            <a:off x="4626864" y="2295144"/>
            <a:ext cx="2926080" cy="178308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A6B75"/>
                </a:solidFill>
              </a:rPr>
              <a:t>Six offices had zero services.</a:t>
            </a:r>
            <a:endParaRPr lang="en-US" sz="1350" dirty="0"/>
          </a:p>
          <a:p>
            <a:pPr marL="342900" indent="-342900">
              <a:spcAft>
                <a:spcPts val="700"/>
              </a:spcAft>
              <a:buSzPct val="100000"/>
              <a:buChar char="•"/>
            </a:pPr>
            <a:r>
              <a:rPr lang="en-US" sz="1350" dirty="0">
                <a:solidFill>
                  <a:srgbClr val="5A6B75"/>
                </a:solidFill>
              </a:rPr>
              <a:t>The cause was a JavaScript-rendered catalogue exposing exactly 235 records.</a:t>
            </a:r>
            <a:endParaRPr lang="en-US" sz="1350" dirty="0"/>
          </a:p>
          <a:p>
            <a:pPr marL="342900" indent="-342900">
              <a:spcAft>
                <a:spcPts val="700"/>
              </a:spcAft>
              <a:buSzPct val="100000"/>
              <a:buChar char="•"/>
            </a:pPr>
            <a:r>
              <a:rPr lang="en-US" sz="1350" dirty="0">
                <a:solidFill>
                  <a:srgbClr val="5A6B75"/>
                </a:solidFill>
              </a:rPr>
              <a:t>Recovered from 28 per-office PDF charters, not patched around.</a:t>
            </a:r>
            <a:endParaRPr lang="en-US" sz="1350" dirty="0"/>
          </a:p>
        </p:txBody>
      </p:sp>
      <p:sp>
        <p:nvSpPr>
          <p:cNvPr id="9" name="card-37"/>
          <p:cNvSpPr/>
          <p:nvPr/>
        </p:nvSpPr>
        <p:spPr>
          <a:xfrm>
            <a:off x="8138160" y="1600200"/>
            <a:ext cx="3383280" cy="2697480"/>
          </a:xfrm>
          <a:prstGeom prst="roundRect">
            <a:avLst>
              <a:gd name="adj" fmla="val 1695"/>
            </a:avLst>
          </a:prstGeom>
          <a:solidFill>
            <a:srgbClr val="F2F2F2"/>
          </a:solidFill>
          <a:ln w="12700">
            <a:solidFill>
              <a:srgbClr val="F2F2F2"/>
            </a:solidFill>
            <a:prstDash val="solid"/>
          </a:ln>
        </p:spPr>
      </p:sp>
      <p:sp>
        <p:nvSpPr>
          <p:cNvPr id="10" name="cardhead-38"/>
          <p:cNvSpPr txBox="1"/>
          <p:nvPr/>
        </p:nvSpPr>
        <p:spPr>
          <a:xfrm>
            <a:off x="8375904" y="1819656"/>
            <a:ext cx="2926080" cy="384048"/>
          </a:xfrm>
          <a:prstGeom prst="rect">
            <a:avLst/>
          </a:prstGeom>
          <a:noFill/>
          <a:ln/>
        </p:spPr>
        <p:txBody>
          <a:bodyPr wrap="square" lIns="0" tIns="0" rIns="0" bIns="0" rtlCol="0" anchor="ctr"/>
          <a:lstStyle/>
          <a:p>
            <a:pPr indent="0" marL="0">
              <a:buNone/>
            </a:pPr>
            <a:r>
              <a:rPr lang="en-US" sz="1600" b="1" dirty="0">
                <a:solidFill>
                  <a:srgbClr val="028090"/>
                </a:solidFill>
              </a:rPr>
              <a:t>The routing was benchmarked</a:t>
            </a:r>
            <a:endParaRPr lang="en-US" sz="1600" dirty="0"/>
          </a:p>
        </p:txBody>
      </p:sp>
      <p:sp>
        <p:nvSpPr>
          <p:cNvPr id="11" name="cardbody-39"/>
          <p:cNvSpPr txBox="1"/>
          <p:nvPr/>
        </p:nvSpPr>
        <p:spPr>
          <a:xfrm>
            <a:off x="8375904" y="2295144"/>
            <a:ext cx="2926080" cy="178308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A6B75"/>
                </a:solidFill>
              </a:rPr>
              <a:t>Measured on the real floor layouts, not in theory.</a:t>
            </a:r>
            <a:endParaRPr lang="en-US" sz="1350" dirty="0"/>
          </a:p>
          <a:p>
            <a:pPr marL="342900" indent="-342900">
              <a:spcAft>
                <a:spcPts val="700"/>
              </a:spcAft>
              <a:buSzPct val="100000"/>
              <a:buChar char="•"/>
            </a:pPr>
            <a:r>
              <a:rPr lang="en-US" sz="1350" dirty="0">
                <a:solidFill>
                  <a:srgbClr val="5A6B75"/>
                </a:solidFill>
              </a:rPr>
              <a:t>Found three defects worth fixing and quantified each one.</a:t>
            </a:r>
            <a:endParaRPr lang="en-US" sz="1350" dirty="0"/>
          </a:p>
          <a:p>
            <a:pPr marL="342900" indent="-342900">
              <a:spcAft>
                <a:spcPts val="700"/>
              </a:spcAft>
              <a:buSzPct val="100000"/>
              <a:buChar char="•"/>
            </a:pPr>
            <a:r>
              <a:rPr lang="en-US" sz="1350" dirty="0">
                <a:solidFill>
                  <a:srgbClr val="5A6B75"/>
                </a:solidFill>
              </a:rPr>
              <a:t>Gives a measured before-and-after for the evaluation chapter.</a:t>
            </a:r>
            <a:endParaRPr lang="en-US" sz="1350" dirty="0"/>
          </a:p>
        </p:txBody>
      </p:sp>
      <p:sp>
        <p:nvSpPr>
          <p:cNvPr id="13" name="Text 2"/>
          <p:cNvSpPr/>
          <p:nvPr>
            <p:ph idx="103" type="chart" hasCustomPrompt="1"/>
          </p:nvPr>
        </p:nvSpPr>
        <p:spPr>
          <a:xfrm>
            <a:off x="640080" y="1463040"/>
            <a:ext cx="6492240" cy="4480560"/>
          </a:xfrm>
          <a:prstGeom prst="rect">
            <a:avLst/>
          </a:prstGeom>
          <a:noFill/>
          <a:ln/>
        </p:spPr>
        <p:txBody>
          <a:bodyPr wrap="square" rtlCol="0"/>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950976" y="411480"/>
            <a:ext cx="10881360" cy="685800"/>
          </a:xfrm>
          <a:prstGeom prst="rect">
            <a:avLst/>
          </a:prstGeom>
          <a:noFill/>
          <a:ln/>
        </p:spPr>
        <p:txBody>
          <a:bodyPr wrap="square" rtlCol="0" anchor="t"/>
          <a:lstStyle/>
          <a:p>
            <a:pPr algn="l" indent="0" marL="0">
              <a:buNone/>
            </a:pPr>
            <a:r>
              <a:rPr lang="en-US" sz="3200" b="1" dirty="0">
                <a:solidFill>
                  <a:schemeClr val="tx1"/>
                </a:solidFill>
              </a:rPr>
              <a:t>Wayfinding: measured defects and the fix</a:t>
            </a:r>
            <a:endParaRPr lang="en-US" sz="3200" dirty="0"/>
          </a:p>
        </p:txBody>
      </p:sp>
      <p:sp>
        <p:nvSpPr>
          <p:cNvPr id="3" name="card-40"/>
          <p:cNvSpPr/>
          <p:nvPr/>
        </p:nvSpPr>
        <p:spPr>
          <a:xfrm>
            <a:off x="640080" y="1600200"/>
            <a:ext cx="5349240" cy="2514600"/>
          </a:xfrm>
          <a:prstGeom prst="roundRect">
            <a:avLst>
              <a:gd name="adj" fmla="val 1818"/>
            </a:avLst>
          </a:prstGeom>
          <a:solidFill>
            <a:srgbClr val="F2F2F2"/>
          </a:solidFill>
          <a:ln w="12700">
            <a:solidFill>
              <a:srgbClr val="F2F2F2"/>
            </a:solidFill>
            <a:prstDash val="solid"/>
          </a:ln>
        </p:spPr>
      </p:sp>
      <p:sp>
        <p:nvSpPr>
          <p:cNvPr id="4" name="cardhead-41"/>
          <p:cNvSpPr txBox="1"/>
          <p:nvPr/>
        </p:nvSpPr>
        <p:spPr>
          <a:xfrm>
            <a:off x="877824" y="1819656"/>
            <a:ext cx="4892040" cy="384048"/>
          </a:xfrm>
          <a:prstGeom prst="rect">
            <a:avLst/>
          </a:prstGeom>
          <a:noFill/>
          <a:ln/>
        </p:spPr>
        <p:txBody>
          <a:bodyPr wrap="square" lIns="0" tIns="0" rIns="0" bIns="0" rtlCol="0" anchor="ctr"/>
          <a:lstStyle/>
          <a:p>
            <a:pPr indent="0" marL="0">
              <a:buNone/>
            </a:pPr>
            <a:r>
              <a:rPr lang="en-US" sz="1600" b="1" dirty="0">
                <a:solidFill>
                  <a:schemeClr val="tx1"/>
                </a:solidFill>
              </a:rPr>
              <a:t>As it routes today</a:t>
            </a:r>
            <a:endParaRPr lang="en-US" sz="1600" dirty="0"/>
          </a:p>
        </p:txBody>
      </p:sp>
      <p:sp>
        <p:nvSpPr>
          <p:cNvPr id="5" name="cardbody-42"/>
          <p:cNvSpPr txBox="1"/>
          <p:nvPr/>
        </p:nvSpPr>
        <p:spPr>
          <a:xfrm>
            <a:off x="877824" y="2295144"/>
            <a:ext cx="4892040" cy="16002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A6B75"/>
                </a:solidFill>
              </a:rPr>
              <a:t>Stair choice is greedy — wrong in 69% of cross-floor trips, worst case 59 m of extra walking.</a:t>
            </a:r>
            <a:endParaRPr lang="en-US" sz="1350" dirty="0"/>
          </a:p>
          <a:p>
            <a:pPr marL="342900" indent="-342900">
              <a:spcAft>
                <a:spcPts val="700"/>
              </a:spcAft>
              <a:buSzPct val="100000"/>
              <a:buChar char="•"/>
            </a:pPr>
            <a:r>
              <a:rPr lang="en-US" sz="1350" dirty="0">
                <a:solidFill>
                  <a:srgbClr val="5A6B75"/>
                </a:solidFill>
              </a:rPr>
              <a:t>26 turns on a 47 m route: a turn every 1.8 m, and the interface narrates every one.</a:t>
            </a:r>
            <a:endParaRPr lang="en-US" sz="1350" dirty="0"/>
          </a:p>
          <a:p>
            <a:pPr marL="342900" indent="-342900">
              <a:spcAft>
                <a:spcPts val="700"/>
              </a:spcAft>
              <a:buSzPct val="100000"/>
              <a:buChar char="•"/>
            </a:pPr>
            <a:r>
              <a:rPr lang="en-US" sz="1350" dirty="0">
                <a:solidFill>
                  <a:srgbClr val="5A6B75"/>
                </a:solidFill>
              </a:rPr>
              <a:t>Distances shown to the citizen are overstated by about 22%.</a:t>
            </a:r>
            <a:endParaRPr lang="en-US" sz="1350" dirty="0"/>
          </a:p>
        </p:txBody>
      </p:sp>
      <p:sp>
        <p:nvSpPr>
          <p:cNvPr id="6" name="card-43"/>
          <p:cNvSpPr/>
          <p:nvPr/>
        </p:nvSpPr>
        <p:spPr>
          <a:xfrm>
            <a:off x="6446520" y="1600200"/>
            <a:ext cx="5349240" cy="2514600"/>
          </a:xfrm>
          <a:prstGeom prst="roundRect">
            <a:avLst>
              <a:gd name="adj" fmla="val 1818"/>
            </a:avLst>
          </a:prstGeom>
          <a:solidFill>
            <a:srgbClr val="F2F2F2"/>
          </a:solidFill>
          <a:ln w="12700">
            <a:solidFill>
              <a:srgbClr val="F2F2F2"/>
            </a:solidFill>
            <a:prstDash val="solid"/>
          </a:ln>
        </p:spPr>
      </p:sp>
      <p:sp>
        <p:nvSpPr>
          <p:cNvPr id="7" name="cardhead-44"/>
          <p:cNvSpPr txBox="1"/>
          <p:nvPr/>
        </p:nvSpPr>
        <p:spPr>
          <a:xfrm>
            <a:off x="6684264" y="1819656"/>
            <a:ext cx="4892040" cy="384048"/>
          </a:xfrm>
          <a:prstGeom prst="rect">
            <a:avLst/>
          </a:prstGeom>
          <a:noFill/>
          <a:ln/>
        </p:spPr>
        <p:txBody>
          <a:bodyPr wrap="square" lIns="0" tIns="0" rIns="0" bIns="0" rtlCol="0" anchor="ctr"/>
          <a:lstStyle/>
          <a:p>
            <a:pPr indent="0" marL="0">
              <a:buNone/>
            </a:pPr>
            <a:r>
              <a:rPr lang="en-US" sz="1600" b="1" dirty="0">
                <a:solidFill>
                  <a:srgbClr val="028090"/>
                </a:solidFill>
              </a:rPr>
              <a:t>After the fix</a:t>
            </a:r>
            <a:endParaRPr lang="en-US" sz="1600" dirty="0"/>
          </a:p>
        </p:txBody>
      </p:sp>
      <p:sp>
        <p:nvSpPr>
          <p:cNvPr id="8" name="cardbody-45"/>
          <p:cNvSpPr txBox="1"/>
          <p:nvPr/>
        </p:nvSpPr>
        <p:spPr>
          <a:xfrm>
            <a:off x="6684264" y="2295144"/>
            <a:ext cx="4892040" cy="16002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A6B75"/>
                </a:solidFill>
              </a:rPr>
              <a:t>Evaluate every shared stair against both legs of the journey — detours eliminated.</a:t>
            </a:r>
            <a:endParaRPr lang="en-US" sz="1350" dirty="0"/>
          </a:p>
          <a:p>
            <a:pPr marL="342900" indent="-342900">
              <a:spcAft>
                <a:spcPts val="700"/>
              </a:spcAft>
              <a:buSzPct val="100000"/>
              <a:buChar char="•"/>
            </a:pPr>
            <a:r>
              <a:rPr lang="en-US" sz="1350" dirty="0">
                <a:solidFill>
                  <a:srgbClr val="5A6B75"/>
                </a:solidFill>
              </a:rPr>
              <a:t>Penalise turns during search: 26 turns become about 7, with no increase in distance.</a:t>
            </a:r>
            <a:endParaRPr lang="en-US" sz="1350" dirty="0"/>
          </a:p>
          <a:p>
            <a:pPr marL="342900" indent="-342900">
              <a:spcAft>
                <a:spcPts val="700"/>
              </a:spcAft>
              <a:buSzPct val="100000"/>
              <a:buChar char="•"/>
            </a:pPr>
            <a:r>
              <a:rPr lang="en-US" sz="1350" dirty="0">
                <a:solidFill>
                  <a:srgbClr val="5A6B75"/>
                </a:solidFill>
              </a:rPr>
              <a:t>Smooth the drawn path, so the stated distance matches the real walk.</a:t>
            </a:r>
            <a:endParaRPr lang="en-US" sz="1350" dirty="0"/>
          </a:p>
        </p:txBody>
      </p:sp>
      <p:sp>
        <p:nvSpPr>
          <p:cNvPr id="9" name="wfkicker-46"/>
          <p:cNvSpPr txBox="1"/>
          <p:nvPr/>
        </p:nvSpPr>
        <p:spPr>
          <a:xfrm>
            <a:off x="640080" y="4480560"/>
            <a:ext cx="10881360" cy="365760"/>
          </a:xfrm>
          <a:prstGeom prst="rect">
            <a:avLst/>
          </a:prstGeom>
          <a:noFill/>
          <a:ln/>
        </p:spPr>
        <p:txBody>
          <a:bodyPr wrap="square" lIns="0" tIns="0" rIns="0" bIns="0" rtlCol="0" anchor="ctr"/>
          <a:lstStyle/>
          <a:p>
            <a:pPr indent="0" marL="0">
              <a:buNone/>
            </a:pPr>
            <a:r>
              <a:rPr lang="en-US" sz="1400" i="1" dirty="0">
                <a:solidFill>
                  <a:srgbClr val="028090"/>
                </a:solidFill>
              </a:rPr>
              <a:t>Low risk, and it must land before the on-site study — otherwise the study measures the bugs.</a:t>
            </a:r>
            <a:endParaRPr lang="en-US" sz="1400" dirty="0"/>
          </a:p>
        </p:txBody>
      </p:sp>
      <p:sp>
        <p:nvSpPr>
          <p:cNvPr id="11" name="Text 2"/>
          <p:cNvSpPr/>
          <p:nvPr>
            <p:ph idx="103" type="chart" hasCustomPrompt="1"/>
          </p:nvPr>
        </p:nvSpPr>
        <p:spPr>
          <a:xfrm>
            <a:off x="640080" y="1463040"/>
            <a:ext cx="6492240" cy="4480560"/>
          </a:xfrm>
          <a:prstGeom prst="rect">
            <a:avLst/>
          </a:prstGeom>
          <a:noFill/>
          <a:ln/>
        </p:spPr>
        <p:txBody>
          <a:bodyPr wrap="square" rtlCol="0"/>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950976" y="411480"/>
            <a:ext cx="10881360" cy="685800"/>
          </a:xfrm>
          <a:prstGeom prst="rect">
            <a:avLst/>
          </a:prstGeom>
          <a:noFill/>
          <a:ln/>
        </p:spPr>
        <p:txBody>
          <a:bodyPr wrap="square" rtlCol="0" anchor="t"/>
          <a:lstStyle/>
          <a:p>
            <a:pPr algn="l" indent="0" marL="0">
              <a:buNone/>
            </a:pPr>
            <a:r>
              <a:rPr lang="en-US" sz="3200" b="1" dirty="0">
                <a:solidFill>
                  <a:schemeClr val="tx1"/>
                </a:solidFill>
              </a:rPr>
              <a:t>What is still open</a:t>
            </a:r>
            <a:endParaRPr lang="en-US" sz="3200" dirty="0"/>
          </a:p>
        </p:txBody>
      </p:sp>
      <p:sp>
        <p:nvSpPr>
          <p:cNvPr id="3" name="disc-47"/>
          <p:cNvSpPr/>
          <p:nvPr/>
        </p:nvSpPr>
        <p:spPr>
          <a:xfrm>
            <a:off x="731520" y="1572768"/>
            <a:ext cx="530352" cy="530352"/>
          </a:xfrm>
          <a:prstGeom prst="ellipse">
            <a:avLst/>
          </a:prstGeom>
          <a:solidFill>
            <a:srgbClr val="028090"/>
          </a:solidFill>
          <a:ln/>
        </p:spPr>
      </p:sp>
      <p:sp>
        <p:nvSpPr>
          <p:cNvPr id="4" name="discnum-48"/>
          <p:cNvSpPr txBox="1"/>
          <p:nvPr/>
        </p:nvSpPr>
        <p:spPr>
          <a:xfrm>
            <a:off x="731520" y="157276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head-49"/>
          <p:cNvSpPr txBox="1"/>
          <p:nvPr/>
        </p:nvSpPr>
        <p:spPr>
          <a:xfrm>
            <a:off x="1508760" y="1536192"/>
            <a:ext cx="10149840" cy="365760"/>
          </a:xfrm>
          <a:prstGeom prst="rect">
            <a:avLst/>
          </a:prstGeom>
          <a:noFill/>
          <a:ln/>
        </p:spPr>
        <p:txBody>
          <a:bodyPr wrap="square" lIns="0" tIns="0" rIns="0" bIns="0" rtlCol="0" anchor="ctr"/>
          <a:lstStyle/>
          <a:p>
            <a:pPr indent="0" marL="0">
              <a:buNone/>
            </a:pPr>
            <a:r>
              <a:rPr lang="en-US" sz="1900" b="1" dirty="0">
                <a:solidFill>
                  <a:schemeClr val="tx1"/>
                </a:solidFill>
              </a:rPr>
              <a:t>No human respondents yet — the main gap</a:t>
            </a:r>
            <a:endParaRPr lang="en-US" sz="1900" dirty="0"/>
          </a:p>
        </p:txBody>
      </p:sp>
      <p:sp>
        <p:nvSpPr>
          <p:cNvPr id="6" name="desc-50"/>
          <p:cNvSpPr txBox="1"/>
          <p:nvPr/>
        </p:nvSpPr>
        <p:spPr>
          <a:xfrm>
            <a:off x="1508760" y="1901952"/>
            <a:ext cx="10149840" cy="566928"/>
          </a:xfrm>
          <a:prstGeom prst="rect">
            <a:avLst/>
          </a:prstGeom>
          <a:noFill/>
          <a:ln/>
        </p:spPr>
        <p:txBody>
          <a:bodyPr wrap="square" lIns="0" tIns="0" rIns="0" bIns="0" rtlCol="0" anchor="t"/>
          <a:lstStyle/>
          <a:p>
            <a:pPr indent="0" marL="0">
              <a:buNone/>
            </a:pPr>
            <a:r>
              <a:rPr lang="en-US" sz="1400" dirty="0">
                <a:solidFill>
                  <a:srgbClr val="5A6B75"/>
                </a:solidFill>
              </a:rPr>
              <a:t>Retrieval is measured. Usability (SUS), software quality (ISO/IEC 25010) and navigation performance are not. The instruments are built and ready to field.</a:t>
            </a:r>
            <a:endParaRPr lang="en-US" sz="1400" dirty="0"/>
          </a:p>
        </p:txBody>
      </p:sp>
      <p:sp>
        <p:nvSpPr>
          <p:cNvPr id="7" name="disc-51"/>
          <p:cNvSpPr/>
          <p:nvPr/>
        </p:nvSpPr>
        <p:spPr>
          <a:xfrm>
            <a:off x="731520" y="2898648"/>
            <a:ext cx="530352" cy="530352"/>
          </a:xfrm>
          <a:prstGeom prst="ellipse">
            <a:avLst/>
          </a:prstGeom>
          <a:solidFill>
            <a:srgbClr val="028090"/>
          </a:solidFill>
          <a:ln/>
        </p:spPr>
      </p:sp>
      <p:sp>
        <p:nvSpPr>
          <p:cNvPr id="8" name="discnum-52"/>
          <p:cNvSpPr txBox="1"/>
          <p:nvPr/>
        </p:nvSpPr>
        <p:spPr>
          <a:xfrm>
            <a:off x="731520" y="289864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head-53"/>
          <p:cNvSpPr txBox="1"/>
          <p:nvPr/>
        </p:nvSpPr>
        <p:spPr>
          <a:xfrm>
            <a:off x="1508760" y="2862072"/>
            <a:ext cx="10149840" cy="365760"/>
          </a:xfrm>
          <a:prstGeom prst="rect">
            <a:avLst/>
          </a:prstGeom>
          <a:noFill/>
          <a:ln/>
        </p:spPr>
        <p:txBody>
          <a:bodyPr wrap="square" lIns="0" tIns="0" rIns="0" bIns="0" rtlCol="0" anchor="ctr"/>
          <a:lstStyle/>
          <a:p>
            <a:pPr indent="0" marL="0">
              <a:buNone/>
            </a:pPr>
            <a:r>
              <a:rPr lang="en-US" sz="1900" b="1" dirty="0">
                <a:solidFill>
                  <a:schemeClr val="tx1"/>
                </a:solidFill>
              </a:rPr>
              <a:t>Dead reckoning does not yet hold heading</a:t>
            </a:r>
            <a:endParaRPr lang="en-US" sz="1900" dirty="0"/>
          </a:p>
        </p:txBody>
      </p:sp>
      <p:sp>
        <p:nvSpPr>
          <p:cNvPr id="10" name="desc-54"/>
          <p:cNvSpPr txBox="1"/>
          <p:nvPr/>
        </p:nvSpPr>
        <p:spPr>
          <a:xfrm>
            <a:off x="1508760" y="3227832"/>
            <a:ext cx="10149840" cy="566928"/>
          </a:xfrm>
          <a:prstGeom prst="rect">
            <a:avLst/>
          </a:prstGeom>
          <a:noFill/>
          <a:ln/>
        </p:spPr>
        <p:txBody>
          <a:bodyPr wrap="square" lIns="0" tIns="0" rIns="0" bIns="0" rtlCol="0" anchor="t"/>
          <a:lstStyle/>
          <a:p>
            <a:pPr indent="0" marL="0">
              <a:buNone/>
            </a:pPr>
            <a:r>
              <a:rPr lang="en-US" sz="1400" dirty="0">
                <a:solidFill>
                  <a:srgbClr val="5A6B75"/>
                </a:solidFill>
              </a:rPr>
              <a:t>A recorded walk showed the compass collapsing mid-route. QR anchoring carries the module today; sensor fusion is designed and cited but not built.</a:t>
            </a:r>
            <a:endParaRPr lang="en-US" sz="1400" dirty="0"/>
          </a:p>
        </p:txBody>
      </p:sp>
      <p:sp>
        <p:nvSpPr>
          <p:cNvPr id="11" name="disc-55"/>
          <p:cNvSpPr/>
          <p:nvPr/>
        </p:nvSpPr>
        <p:spPr>
          <a:xfrm>
            <a:off x="731520" y="4224528"/>
            <a:ext cx="530352" cy="530352"/>
          </a:xfrm>
          <a:prstGeom prst="ellipse">
            <a:avLst/>
          </a:prstGeom>
          <a:solidFill>
            <a:srgbClr val="028090"/>
          </a:solidFill>
          <a:ln/>
        </p:spPr>
      </p:sp>
      <p:sp>
        <p:nvSpPr>
          <p:cNvPr id="12" name="discnum-56"/>
          <p:cNvSpPr txBox="1"/>
          <p:nvPr/>
        </p:nvSpPr>
        <p:spPr>
          <a:xfrm>
            <a:off x="731520" y="422452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3" name="head-57"/>
          <p:cNvSpPr txBox="1"/>
          <p:nvPr/>
        </p:nvSpPr>
        <p:spPr>
          <a:xfrm>
            <a:off x="1508760" y="4187952"/>
            <a:ext cx="10149840" cy="365760"/>
          </a:xfrm>
          <a:prstGeom prst="rect">
            <a:avLst/>
          </a:prstGeom>
          <a:noFill/>
          <a:ln/>
        </p:spPr>
        <p:txBody>
          <a:bodyPr wrap="square" lIns="0" tIns="0" rIns="0" bIns="0" rtlCol="0" anchor="ctr"/>
          <a:lstStyle/>
          <a:p>
            <a:pPr indent="0" marL="0">
              <a:buNone/>
            </a:pPr>
            <a:r>
              <a:rPr lang="en-US" sz="1900" b="1" dirty="0">
                <a:solidFill>
                  <a:schemeClr val="tx1"/>
                </a:solidFill>
              </a:rPr>
              <a:t>Instruments are adapted, not yet validated here</a:t>
            </a:r>
            <a:endParaRPr lang="en-US" sz="1900" dirty="0"/>
          </a:p>
        </p:txBody>
      </p:sp>
      <p:sp>
        <p:nvSpPr>
          <p:cNvPr id="14" name="desc-58"/>
          <p:cNvSpPr txBox="1"/>
          <p:nvPr/>
        </p:nvSpPr>
        <p:spPr>
          <a:xfrm>
            <a:off x="1508760" y="4553712"/>
            <a:ext cx="10149840" cy="566928"/>
          </a:xfrm>
          <a:prstGeom prst="rect">
            <a:avLst/>
          </a:prstGeom>
          <a:noFill/>
          <a:ln/>
        </p:spPr>
        <p:txBody>
          <a:bodyPr wrap="square" lIns="0" tIns="0" rIns="0" bIns="0" rtlCol="0" anchor="t"/>
          <a:lstStyle/>
          <a:p>
            <a:pPr indent="0" marL="0">
              <a:buNone/>
            </a:pPr>
            <a:r>
              <a:rPr lang="en-US" sz="1400" dirty="0">
                <a:solidFill>
                  <a:srgbClr val="5A6B75"/>
                </a:solidFill>
              </a:rPr>
              <a:t>Items are adapted from a validated ISO 25010 instrument, with provenance declared. Reliability must be computed from this study’s own data.</a:t>
            </a:r>
            <a:endParaRPr lang="en-US" sz="1400" dirty="0"/>
          </a:p>
        </p:txBody>
      </p:sp>
      <p:sp>
        <p:nvSpPr>
          <p:cNvPr id="15" name="gapkicker-59"/>
          <p:cNvSpPr txBox="1"/>
          <p:nvPr/>
        </p:nvSpPr>
        <p:spPr>
          <a:xfrm>
            <a:off x="731520" y="5440680"/>
            <a:ext cx="10881360" cy="365760"/>
          </a:xfrm>
          <a:prstGeom prst="rect">
            <a:avLst/>
          </a:prstGeom>
          <a:noFill/>
          <a:ln/>
        </p:spPr>
        <p:txBody>
          <a:bodyPr wrap="square" lIns="0" tIns="0" rIns="0" bIns="0" rtlCol="0" anchor="ctr"/>
          <a:lstStyle/>
          <a:p>
            <a:pPr indent="0" marL="0">
              <a:buNone/>
            </a:pPr>
            <a:r>
              <a:rPr lang="en-US" sz="1400" i="1" dirty="0">
                <a:solidFill>
                  <a:srgbClr val="028090"/>
                </a:solidFill>
              </a:rPr>
              <a:t>All three are known, scoped and have a stated route to closure.</a:t>
            </a:r>
            <a:endParaRPr lang="en-US" sz="1400" dirty="0"/>
          </a:p>
        </p:txBody>
      </p:sp>
      <p:sp>
        <p:nvSpPr>
          <p:cNvPr id="17" name="Text 2"/>
          <p:cNvSpPr/>
          <p:nvPr>
            <p:ph idx="103" type="chart" hasCustomPrompt="1"/>
          </p:nvPr>
        </p:nvSpPr>
        <p:spPr>
          <a:xfrm>
            <a:off x="640080" y="1463040"/>
            <a:ext cx="6492240" cy="4480560"/>
          </a:xfrm>
          <a:prstGeom prst="rect">
            <a:avLst/>
          </a:prstGeom>
          <a:noFill/>
          <a:ln/>
        </p:spPr>
        <p:txBody>
          <a:bodyPr wrap="square" rtlCol="0"/>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950976" y="411480"/>
            <a:ext cx="10881360" cy="685800"/>
          </a:xfrm>
          <a:prstGeom prst="rect">
            <a:avLst/>
          </a:prstGeom>
          <a:noFill/>
          <a:ln/>
        </p:spPr>
        <p:txBody>
          <a:bodyPr wrap="square" rtlCol="0" anchor="t"/>
          <a:lstStyle/>
          <a:p>
            <a:pPr algn="l" indent="0" marL="0">
              <a:buNone/>
            </a:pPr>
            <a:r>
              <a:rPr lang="en-US" sz="3200" b="1" dirty="0">
                <a:solidFill>
                  <a:schemeClr val="tx1"/>
                </a:solidFill>
              </a:rPr>
              <a:t>Risks I am managing</a:t>
            </a:r>
            <a:endParaRPr lang="en-US" sz="3200" dirty="0"/>
          </a:p>
        </p:txBody>
      </p:sp>
      <p:sp>
        <p:nvSpPr>
          <p:cNvPr id="3" name="card-60"/>
          <p:cNvSpPr/>
          <p:nvPr/>
        </p:nvSpPr>
        <p:spPr>
          <a:xfrm>
            <a:off x="640080" y="1600200"/>
            <a:ext cx="3383280" cy="2286000"/>
          </a:xfrm>
          <a:prstGeom prst="roundRect">
            <a:avLst>
              <a:gd name="adj" fmla="val 2000"/>
            </a:avLst>
          </a:prstGeom>
          <a:solidFill>
            <a:srgbClr val="F2F2F2"/>
          </a:solidFill>
          <a:ln w="12700">
            <a:solidFill>
              <a:srgbClr val="F2F2F2"/>
            </a:solidFill>
            <a:prstDash val="solid"/>
          </a:ln>
        </p:spPr>
      </p:sp>
      <p:sp>
        <p:nvSpPr>
          <p:cNvPr id="4" name="cardhead-61"/>
          <p:cNvSpPr txBox="1"/>
          <p:nvPr/>
        </p:nvSpPr>
        <p:spPr>
          <a:xfrm>
            <a:off x="877824" y="1819656"/>
            <a:ext cx="2926080" cy="384048"/>
          </a:xfrm>
          <a:prstGeom prst="rect">
            <a:avLst/>
          </a:prstGeom>
          <a:noFill/>
          <a:ln/>
        </p:spPr>
        <p:txBody>
          <a:bodyPr wrap="square" lIns="0" tIns="0" rIns="0" bIns="0" rtlCol="0" anchor="ctr"/>
          <a:lstStyle/>
          <a:p>
            <a:pPr indent="0" marL="0">
              <a:buNone/>
            </a:pPr>
            <a:r>
              <a:rPr lang="en-US" sz="1600" b="1" dirty="0">
                <a:solidFill>
                  <a:srgbClr val="028090"/>
                </a:solidFill>
              </a:rPr>
              <a:t>Single model provider</a:t>
            </a:r>
            <a:endParaRPr lang="en-US" sz="1600" dirty="0"/>
          </a:p>
        </p:txBody>
      </p:sp>
      <p:sp>
        <p:nvSpPr>
          <p:cNvPr id="5" name="cardbody-62"/>
          <p:cNvSpPr txBox="1"/>
          <p:nvPr/>
        </p:nvSpPr>
        <p:spPr>
          <a:xfrm>
            <a:off x="877824" y="2295144"/>
            <a:ext cx="2926080" cy="13716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A6B75"/>
                </a:solidFill>
              </a:rPr>
              <a:t>The language model vendor retired the original model mid-project and the system broke.</a:t>
            </a:r>
            <a:endParaRPr lang="en-US" sz="1350" dirty="0"/>
          </a:p>
          <a:p>
            <a:pPr marL="342900" indent="-342900">
              <a:spcAft>
                <a:spcPts val="700"/>
              </a:spcAft>
              <a:buSzPct val="100000"/>
              <a:buChar char="•"/>
            </a:pPr>
            <a:r>
              <a:rPr lang="en-US" sz="1350" dirty="0">
                <a:solidFill>
                  <a:srgbClr val="5A6B75"/>
                </a:solidFill>
              </a:rPr>
              <a:t>It was diagnosed and migrated, but there is still no second provider wired in.</a:t>
            </a:r>
            <a:endParaRPr lang="en-US" sz="1350" dirty="0"/>
          </a:p>
        </p:txBody>
      </p:sp>
      <p:sp>
        <p:nvSpPr>
          <p:cNvPr id="6" name="card-63"/>
          <p:cNvSpPr/>
          <p:nvPr/>
        </p:nvSpPr>
        <p:spPr>
          <a:xfrm>
            <a:off x="4389120" y="1600200"/>
            <a:ext cx="3383280" cy="2286000"/>
          </a:xfrm>
          <a:prstGeom prst="roundRect">
            <a:avLst>
              <a:gd name="adj" fmla="val 2000"/>
            </a:avLst>
          </a:prstGeom>
          <a:solidFill>
            <a:srgbClr val="F2F2F2"/>
          </a:solidFill>
          <a:ln w="12700">
            <a:solidFill>
              <a:srgbClr val="F2F2F2"/>
            </a:solidFill>
            <a:prstDash val="solid"/>
          </a:ln>
        </p:spPr>
      </p:sp>
      <p:sp>
        <p:nvSpPr>
          <p:cNvPr id="7" name="cardhead-64"/>
          <p:cNvSpPr txBox="1"/>
          <p:nvPr/>
        </p:nvSpPr>
        <p:spPr>
          <a:xfrm>
            <a:off x="4626864" y="1819656"/>
            <a:ext cx="2926080" cy="384048"/>
          </a:xfrm>
          <a:prstGeom prst="rect">
            <a:avLst/>
          </a:prstGeom>
          <a:noFill/>
          <a:ln/>
        </p:spPr>
        <p:txBody>
          <a:bodyPr wrap="square" lIns="0" tIns="0" rIns="0" bIns="0" rtlCol="0" anchor="ctr"/>
          <a:lstStyle/>
          <a:p>
            <a:pPr indent="0" marL="0">
              <a:buNone/>
            </a:pPr>
            <a:r>
              <a:rPr lang="en-US" sz="1600" b="1" dirty="0">
                <a:solidFill>
                  <a:srgbClr val="028090"/>
                </a:solidFill>
              </a:rPr>
              <a:t>Corpus goes stale</a:t>
            </a:r>
            <a:endParaRPr lang="en-US" sz="1600" dirty="0"/>
          </a:p>
        </p:txBody>
      </p:sp>
      <p:sp>
        <p:nvSpPr>
          <p:cNvPr id="8" name="cardbody-65"/>
          <p:cNvSpPr txBox="1"/>
          <p:nvPr/>
        </p:nvSpPr>
        <p:spPr>
          <a:xfrm>
            <a:off x="4626864" y="2295144"/>
            <a:ext cx="2926080" cy="13716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A6B75"/>
                </a:solidFill>
              </a:rPr>
              <a:t>The corpus is a snapshot of the 2025 charter edition.</a:t>
            </a:r>
            <a:endParaRPr lang="en-US" sz="1350" dirty="0"/>
          </a:p>
          <a:p>
            <a:pPr marL="342900" indent="-342900">
              <a:spcAft>
                <a:spcPts val="700"/>
              </a:spcAft>
              <a:buSzPct val="100000"/>
              <a:buChar char="•"/>
            </a:pPr>
            <a:r>
              <a:rPr lang="en-US" sz="1350" dirty="0">
                <a:solidFill>
                  <a:srgbClr val="5A6B75"/>
                </a:solidFill>
              </a:rPr>
              <a:t>There is no automatic refresh if the city republishes.</a:t>
            </a:r>
            <a:endParaRPr lang="en-US" sz="1350" dirty="0"/>
          </a:p>
        </p:txBody>
      </p:sp>
      <p:sp>
        <p:nvSpPr>
          <p:cNvPr id="9" name="card-66"/>
          <p:cNvSpPr/>
          <p:nvPr/>
        </p:nvSpPr>
        <p:spPr>
          <a:xfrm>
            <a:off x="8138160" y="1600200"/>
            <a:ext cx="3383280" cy="2286000"/>
          </a:xfrm>
          <a:prstGeom prst="roundRect">
            <a:avLst>
              <a:gd name="adj" fmla="val 2000"/>
            </a:avLst>
          </a:prstGeom>
          <a:solidFill>
            <a:srgbClr val="F2F2F2"/>
          </a:solidFill>
          <a:ln w="12700">
            <a:solidFill>
              <a:srgbClr val="F2F2F2"/>
            </a:solidFill>
            <a:prstDash val="solid"/>
          </a:ln>
        </p:spPr>
      </p:sp>
      <p:sp>
        <p:nvSpPr>
          <p:cNvPr id="10" name="cardhead-67"/>
          <p:cNvSpPr txBox="1"/>
          <p:nvPr/>
        </p:nvSpPr>
        <p:spPr>
          <a:xfrm>
            <a:off x="8375904" y="1819656"/>
            <a:ext cx="2926080" cy="384048"/>
          </a:xfrm>
          <a:prstGeom prst="rect">
            <a:avLst/>
          </a:prstGeom>
          <a:noFill/>
          <a:ln/>
        </p:spPr>
        <p:txBody>
          <a:bodyPr wrap="square" lIns="0" tIns="0" rIns="0" bIns="0" rtlCol="0" anchor="ctr"/>
          <a:lstStyle/>
          <a:p>
            <a:pPr indent="0" marL="0">
              <a:buNone/>
            </a:pPr>
            <a:r>
              <a:rPr lang="en-US" sz="1600" b="1" dirty="0">
                <a:solidFill>
                  <a:srgbClr val="028090"/>
                </a:solidFill>
              </a:rPr>
              <a:t>On-site study access</a:t>
            </a:r>
            <a:endParaRPr lang="en-US" sz="1600" dirty="0"/>
          </a:p>
        </p:txBody>
      </p:sp>
      <p:sp>
        <p:nvSpPr>
          <p:cNvPr id="11" name="cardbody-68"/>
          <p:cNvSpPr txBox="1"/>
          <p:nvPr/>
        </p:nvSpPr>
        <p:spPr>
          <a:xfrm>
            <a:off x="8375904" y="2295144"/>
            <a:ext cx="2926080" cy="13716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A6B75"/>
                </a:solidFill>
              </a:rPr>
              <a:t>Navigation metrics need physical access and correct office coordinates.</a:t>
            </a:r>
            <a:endParaRPr lang="en-US" sz="1350" dirty="0"/>
          </a:p>
          <a:p>
            <a:pPr marL="342900" indent="-342900">
              <a:spcAft>
                <a:spcPts val="700"/>
              </a:spcAft>
              <a:buSzPct val="100000"/>
              <a:buChar char="•"/>
            </a:pPr>
            <a:r>
              <a:rPr lang="en-US" sz="1350" dirty="0">
                <a:solidFill>
                  <a:srgbClr val="5A6B75"/>
                </a:solidFill>
              </a:rPr>
              <a:t>Four offices still fall back to the information desk pending confirmation.</a:t>
            </a:r>
            <a:endParaRPr lang="en-US" sz="1350" dirty="0"/>
          </a:p>
        </p:txBody>
      </p:sp>
      <p:sp>
        <p:nvSpPr>
          <p:cNvPr id="12" name="riskkicker-69"/>
          <p:cNvSpPr txBox="1"/>
          <p:nvPr/>
        </p:nvSpPr>
        <p:spPr>
          <a:xfrm>
            <a:off x="640080" y="4206240"/>
            <a:ext cx="10881360" cy="365760"/>
          </a:xfrm>
          <a:prstGeom prst="rect">
            <a:avLst/>
          </a:prstGeom>
          <a:noFill/>
          <a:ln/>
        </p:spPr>
        <p:txBody>
          <a:bodyPr wrap="square" lIns="0" tIns="0" rIns="0" bIns="0" rtlCol="0" anchor="ctr"/>
          <a:lstStyle/>
          <a:p>
            <a:pPr indent="0" marL="0">
              <a:buNone/>
            </a:pPr>
            <a:r>
              <a:rPr lang="en-US" sz="1400" i="1" dirty="0">
                <a:solidFill>
                  <a:srgbClr val="028090"/>
                </a:solidFill>
              </a:rPr>
              <a:t>Each is a known dependency with a fallback, not a surprise.</a:t>
            </a:r>
            <a:endParaRPr lang="en-US" sz="1400" dirty="0"/>
          </a:p>
        </p:txBody>
      </p:sp>
      <p:sp>
        <p:nvSpPr>
          <p:cNvPr id="14" name="Text 2"/>
          <p:cNvSpPr/>
          <p:nvPr>
            <p:ph idx="103" type="chart" hasCustomPrompt="1"/>
          </p:nvPr>
        </p:nvSpPr>
        <p:spPr>
          <a:xfrm>
            <a:off x="640080" y="1463040"/>
            <a:ext cx="6492240" cy="4480560"/>
          </a:xfrm>
          <a:prstGeom prst="rect">
            <a:avLst/>
          </a:prstGeom>
          <a:noFill/>
          <a:ln/>
        </p:spPr>
        <p:txBody>
          <a:bodyPr wrap="square" rtlCol="0"/>
          <a:lstStyle/>
          <a:p>
            <a:pPr indent="0" marL="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950976" y="411480"/>
            <a:ext cx="10881360" cy="685800"/>
          </a:xfrm>
          <a:prstGeom prst="rect">
            <a:avLst/>
          </a:prstGeom>
          <a:noFill/>
          <a:ln/>
        </p:spPr>
        <p:txBody>
          <a:bodyPr wrap="square" rtlCol="0" anchor="t"/>
          <a:lstStyle/>
          <a:p>
            <a:pPr algn="l" indent="0" marL="0">
              <a:buNone/>
            </a:pPr>
            <a:r>
              <a:rPr lang="en-US" sz="3200" b="1" dirty="0">
                <a:solidFill>
                  <a:schemeClr val="tx1"/>
                </a:solidFill>
              </a:rPr>
              <a:t>What happens next, in order</a:t>
            </a:r>
            <a:endParaRPr lang="en-US" sz="3200" dirty="0"/>
          </a:p>
        </p:txBody>
      </p:sp>
      <p:sp>
        <p:nvSpPr>
          <p:cNvPr id="3" name="stepdisc-70"/>
          <p:cNvSpPr/>
          <p:nvPr/>
        </p:nvSpPr>
        <p:spPr>
          <a:xfrm>
            <a:off x="640080" y="1737360"/>
            <a:ext cx="457200" cy="457200"/>
          </a:xfrm>
          <a:prstGeom prst="ellipse">
            <a:avLst/>
          </a:prstGeom>
          <a:solidFill>
            <a:srgbClr val="028090"/>
          </a:solidFill>
          <a:ln/>
        </p:spPr>
      </p:sp>
      <p:sp>
        <p:nvSpPr>
          <p:cNvPr id="4" name="stepnum-71"/>
          <p:cNvSpPr txBox="1"/>
          <p:nvPr/>
        </p:nvSpPr>
        <p:spPr>
          <a:xfrm>
            <a:off x="640080" y="17373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sp>
        <p:nvSpPr>
          <p:cNvPr id="5" name="stephead-72"/>
          <p:cNvSpPr txBox="1"/>
          <p:nvPr/>
        </p:nvSpPr>
        <p:spPr>
          <a:xfrm>
            <a:off x="1234440" y="1719072"/>
            <a:ext cx="2773680" cy="548640"/>
          </a:xfrm>
          <a:prstGeom prst="rect">
            <a:avLst/>
          </a:prstGeom>
          <a:noFill/>
          <a:ln/>
        </p:spPr>
        <p:txBody>
          <a:bodyPr wrap="square" lIns="0" tIns="0" rIns="0" bIns="0" rtlCol="0" anchor="ctr"/>
          <a:lstStyle/>
          <a:p>
            <a:pPr indent="0" marL="0">
              <a:buNone/>
            </a:pPr>
            <a:r>
              <a:rPr lang="en-US" sz="1550" b="1" dirty="0">
                <a:solidFill>
                  <a:schemeClr val="tx1"/>
                </a:solidFill>
              </a:rPr>
              <a:t>Secure the deployment</a:t>
            </a:r>
            <a:endParaRPr lang="en-US" sz="1550" dirty="0"/>
          </a:p>
        </p:txBody>
      </p:sp>
      <p:sp>
        <p:nvSpPr>
          <p:cNvPr id="6" name="stepdesc-73"/>
          <p:cNvSpPr txBox="1"/>
          <p:nvPr/>
        </p:nvSpPr>
        <p:spPr>
          <a:xfrm>
            <a:off x="1234440" y="2212848"/>
            <a:ext cx="2773680" cy="868680"/>
          </a:xfrm>
          <a:prstGeom prst="rect">
            <a:avLst/>
          </a:prstGeom>
          <a:noFill/>
          <a:ln/>
        </p:spPr>
        <p:txBody>
          <a:bodyPr wrap="square" lIns="0" tIns="0" rIns="0" bIns="0" rtlCol="0" anchor="t"/>
          <a:lstStyle/>
          <a:p>
            <a:pPr indent="0" marL="0">
              <a:buNone/>
            </a:pPr>
            <a:r>
              <a:rPr lang="en-US" sz="1300" dirty="0">
                <a:solidFill>
                  <a:srgbClr val="5A6B75"/>
                </a:solidFill>
              </a:rPr>
              <a:t>Rotate every credential. Under a day.</a:t>
            </a:r>
            <a:endParaRPr lang="en-US" sz="1300" dirty="0"/>
          </a:p>
        </p:txBody>
      </p:sp>
      <p:sp>
        <p:nvSpPr>
          <p:cNvPr id="7" name="stepdisc-74"/>
          <p:cNvSpPr/>
          <p:nvPr/>
        </p:nvSpPr>
        <p:spPr>
          <a:xfrm>
            <a:off x="4373880" y="1737360"/>
            <a:ext cx="457200" cy="457200"/>
          </a:xfrm>
          <a:prstGeom prst="ellipse">
            <a:avLst/>
          </a:prstGeom>
          <a:solidFill>
            <a:srgbClr val="028090"/>
          </a:solidFill>
          <a:ln/>
        </p:spPr>
      </p:sp>
      <p:sp>
        <p:nvSpPr>
          <p:cNvPr id="8" name="stepnum-75"/>
          <p:cNvSpPr txBox="1"/>
          <p:nvPr/>
        </p:nvSpPr>
        <p:spPr>
          <a:xfrm>
            <a:off x="4373880" y="17373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sp>
        <p:nvSpPr>
          <p:cNvPr id="9" name="stephead-76"/>
          <p:cNvSpPr txBox="1"/>
          <p:nvPr/>
        </p:nvSpPr>
        <p:spPr>
          <a:xfrm>
            <a:off x="4968240" y="1719072"/>
            <a:ext cx="2773680" cy="548640"/>
          </a:xfrm>
          <a:prstGeom prst="rect">
            <a:avLst/>
          </a:prstGeom>
          <a:noFill/>
          <a:ln/>
        </p:spPr>
        <p:txBody>
          <a:bodyPr wrap="square" lIns="0" tIns="0" rIns="0" bIns="0" rtlCol="0" anchor="ctr"/>
          <a:lstStyle/>
          <a:p>
            <a:pPr indent="0" marL="0">
              <a:buNone/>
            </a:pPr>
            <a:r>
              <a:rPr lang="en-US" sz="1550" b="1" dirty="0">
                <a:solidFill>
                  <a:schemeClr val="tx1"/>
                </a:solidFill>
              </a:rPr>
              <a:t>Fix the routing defects</a:t>
            </a:r>
            <a:endParaRPr lang="en-US" sz="1550" dirty="0"/>
          </a:p>
        </p:txBody>
      </p:sp>
      <p:sp>
        <p:nvSpPr>
          <p:cNvPr id="10" name="stepdesc-77"/>
          <p:cNvSpPr txBox="1"/>
          <p:nvPr/>
        </p:nvSpPr>
        <p:spPr>
          <a:xfrm>
            <a:off x="4968240" y="2212848"/>
            <a:ext cx="2773680" cy="868680"/>
          </a:xfrm>
          <a:prstGeom prst="rect">
            <a:avLst/>
          </a:prstGeom>
          <a:noFill/>
          <a:ln/>
        </p:spPr>
        <p:txBody>
          <a:bodyPr wrap="square" lIns="0" tIns="0" rIns="0" bIns="0" rtlCol="0" anchor="t"/>
          <a:lstStyle/>
          <a:p>
            <a:pPr indent="0" marL="0">
              <a:buNone/>
            </a:pPr>
            <a:r>
              <a:rPr lang="en-US" sz="1300" dirty="0">
                <a:solidFill>
                  <a:srgbClr val="5A6B75"/>
                </a:solidFill>
              </a:rPr>
              <a:t>Stair selection and path caching. Low risk.</a:t>
            </a:r>
            <a:endParaRPr lang="en-US" sz="1300" dirty="0"/>
          </a:p>
        </p:txBody>
      </p:sp>
      <p:sp>
        <p:nvSpPr>
          <p:cNvPr id="11" name="stepdisc-78"/>
          <p:cNvSpPr/>
          <p:nvPr/>
        </p:nvSpPr>
        <p:spPr>
          <a:xfrm>
            <a:off x="8107680" y="1737360"/>
            <a:ext cx="457200" cy="457200"/>
          </a:xfrm>
          <a:prstGeom prst="ellipse">
            <a:avLst/>
          </a:prstGeom>
          <a:solidFill>
            <a:srgbClr val="028090"/>
          </a:solidFill>
          <a:ln/>
        </p:spPr>
      </p:sp>
      <p:sp>
        <p:nvSpPr>
          <p:cNvPr id="12" name="stepnum-79"/>
          <p:cNvSpPr txBox="1"/>
          <p:nvPr/>
        </p:nvSpPr>
        <p:spPr>
          <a:xfrm>
            <a:off x="8107680" y="17373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sp>
        <p:nvSpPr>
          <p:cNvPr id="13" name="stephead-80"/>
          <p:cNvSpPr txBox="1"/>
          <p:nvPr/>
        </p:nvSpPr>
        <p:spPr>
          <a:xfrm>
            <a:off x="8702040" y="1719072"/>
            <a:ext cx="2773680" cy="548640"/>
          </a:xfrm>
          <a:prstGeom prst="rect">
            <a:avLst/>
          </a:prstGeom>
          <a:noFill/>
          <a:ln/>
        </p:spPr>
        <p:txBody>
          <a:bodyPr wrap="square" lIns="0" tIns="0" rIns="0" bIns="0" rtlCol="0" anchor="ctr"/>
          <a:lstStyle/>
          <a:p>
            <a:pPr indent="0" marL="0">
              <a:buNone/>
            </a:pPr>
            <a:r>
              <a:rPr lang="en-US" sz="1550" b="1" dirty="0">
                <a:solidFill>
                  <a:schemeClr val="tx1"/>
                </a:solidFill>
              </a:rPr>
              <a:t>Confirm office coordinates</a:t>
            </a:r>
            <a:endParaRPr lang="en-US" sz="1550" dirty="0"/>
          </a:p>
        </p:txBody>
      </p:sp>
      <p:sp>
        <p:nvSpPr>
          <p:cNvPr id="14" name="stepdesc-81"/>
          <p:cNvSpPr txBox="1"/>
          <p:nvPr/>
        </p:nvSpPr>
        <p:spPr>
          <a:xfrm>
            <a:off x="8702040" y="2212848"/>
            <a:ext cx="2773680" cy="868680"/>
          </a:xfrm>
          <a:prstGeom prst="rect">
            <a:avLst/>
          </a:prstGeom>
          <a:noFill/>
          <a:ln/>
        </p:spPr>
        <p:txBody>
          <a:bodyPr wrap="square" lIns="0" tIns="0" rIns="0" bIns="0" rtlCol="0" anchor="t"/>
          <a:lstStyle/>
          <a:p>
            <a:pPr indent="0" marL="0">
              <a:buNone/>
            </a:pPr>
            <a:r>
              <a:rPr lang="en-US" sz="1300" dirty="0">
                <a:solidFill>
                  <a:srgbClr val="5A6B75"/>
                </a:solidFill>
              </a:rPr>
              <a:t>Removes the last information-desk fallbacks.</a:t>
            </a:r>
            <a:endParaRPr lang="en-US" sz="1300" dirty="0"/>
          </a:p>
        </p:txBody>
      </p:sp>
      <p:sp>
        <p:nvSpPr>
          <p:cNvPr id="15" name="stepdisc-82"/>
          <p:cNvSpPr/>
          <p:nvPr/>
        </p:nvSpPr>
        <p:spPr>
          <a:xfrm>
            <a:off x="640080" y="3794760"/>
            <a:ext cx="457200" cy="457200"/>
          </a:xfrm>
          <a:prstGeom prst="ellipse">
            <a:avLst/>
          </a:prstGeom>
          <a:solidFill>
            <a:srgbClr val="8A9BA5"/>
          </a:solidFill>
          <a:ln/>
        </p:spPr>
      </p:sp>
      <p:sp>
        <p:nvSpPr>
          <p:cNvPr id="16" name="stepnum-83"/>
          <p:cNvSpPr txBox="1"/>
          <p:nvPr/>
        </p:nvSpPr>
        <p:spPr>
          <a:xfrm>
            <a:off x="640080" y="3794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sp>
        <p:nvSpPr>
          <p:cNvPr id="17" name="stephead-84"/>
          <p:cNvSpPr txBox="1"/>
          <p:nvPr/>
        </p:nvSpPr>
        <p:spPr>
          <a:xfrm>
            <a:off x="1234440" y="3776472"/>
            <a:ext cx="2773680" cy="548640"/>
          </a:xfrm>
          <a:prstGeom prst="rect">
            <a:avLst/>
          </a:prstGeom>
          <a:noFill/>
          <a:ln/>
        </p:spPr>
        <p:txBody>
          <a:bodyPr wrap="square" lIns="0" tIns="0" rIns="0" bIns="0" rtlCol="0" anchor="ctr"/>
          <a:lstStyle/>
          <a:p>
            <a:pPr indent="0" marL="0">
              <a:buNone/>
            </a:pPr>
            <a:r>
              <a:rPr lang="en-US" sz="1550" b="1" dirty="0">
                <a:solidFill>
                  <a:schemeClr val="tx1"/>
                </a:solidFill>
              </a:rPr>
              <a:t>Run the on-site study</a:t>
            </a:r>
            <a:endParaRPr lang="en-US" sz="1550" dirty="0"/>
          </a:p>
        </p:txBody>
      </p:sp>
      <p:sp>
        <p:nvSpPr>
          <p:cNvPr id="18" name="stepdesc-85"/>
          <p:cNvSpPr txBox="1"/>
          <p:nvPr/>
        </p:nvSpPr>
        <p:spPr>
          <a:xfrm>
            <a:off x="1234440" y="4270248"/>
            <a:ext cx="2773680" cy="868680"/>
          </a:xfrm>
          <a:prstGeom prst="rect">
            <a:avLst/>
          </a:prstGeom>
          <a:noFill/>
          <a:ln/>
        </p:spPr>
        <p:txBody>
          <a:bodyPr wrap="square" lIns="0" tIns="0" rIns="0" bIns="0" rtlCol="0" anchor="t"/>
          <a:lstStyle/>
          <a:p>
            <a:pPr indent="0" marL="0">
              <a:buNone/>
            </a:pPr>
            <a:r>
              <a:rPr lang="en-US" sz="1300" dirty="0">
                <a:solidFill>
                  <a:srgbClr val="5A6B75"/>
                </a:solidFill>
              </a:rPr>
              <a:t>Completion rate, task time, assists. Longest lead item.</a:t>
            </a:r>
            <a:endParaRPr lang="en-US" sz="1300" dirty="0"/>
          </a:p>
        </p:txBody>
      </p:sp>
      <p:sp>
        <p:nvSpPr>
          <p:cNvPr id="19" name="stepdisc-86"/>
          <p:cNvSpPr/>
          <p:nvPr/>
        </p:nvSpPr>
        <p:spPr>
          <a:xfrm>
            <a:off x="4373880" y="3794760"/>
            <a:ext cx="457200" cy="457200"/>
          </a:xfrm>
          <a:prstGeom prst="ellipse">
            <a:avLst/>
          </a:prstGeom>
          <a:solidFill>
            <a:srgbClr val="8A9BA5"/>
          </a:solidFill>
          <a:ln/>
        </p:spPr>
      </p:sp>
      <p:sp>
        <p:nvSpPr>
          <p:cNvPr id="20" name="stepnum-87"/>
          <p:cNvSpPr txBox="1"/>
          <p:nvPr/>
        </p:nvSpPr>
        <p:spPr>
          <a:xfrm>
            <a:off x="4373880" y="3794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5</a:t>
            </a:r>
            <a:endParaRPr lang="en-US" sz="1700" dirty="0"/>
          </a:p>
        </p:txBody>
      </p:sp>
      <p:sp>
        <p:nvSpPr>
          <p:cNvPr id="21" name="stephead-88"/>
          <p:cNvSpPr txBox="1"/>
          <p:nvPr/>
        </p:nvSpPr>
        <p:spPr>
          <a:xfrm>
            <a:off x="4968240" y="3776472"/>
            <a:ext cx="2773680" cy="548640"/>
          </a:xfrm>
          <a:prstGeom prst="rect">
            <a:avLst/>
          </a:prstGeom>
          <a:noFill/>
          <a:ln/>
        </p:spPr>
        <p:txBody>
          <a:bodyPr wrap="square" lIns="0" tIns="0" rIns="0" bIns="0" rtlCol="0" anchor="ctr"/>
          <a:lstStyle/>
          <a:p>
            <a:pPr indent="0" marL="0">
              <a:buNone/>
            </a:pPr>
            <a:r>
              <a:rPr lang="en-US" sz="1550" b="1" dirty="0">
                <a:solidFill>
                  <a:schemeClr val="tx1"/>
                </a:solidFill>
              </a:rPr>
              <a:t>Field SUS and ISO 25010</a:t>
            </a:r>
            <a:endParaRPr lang="en-US" sz="1550" dirty="0"/>
          </a:p>
        </p:txBody>
      </p:sp>
      <p:sp>
        <p:nvSpPr>
          <p:cNvPr id="22" name="stepdesc-89"/>
          <p:cNvSpPr txBox="1"/>
          <p:nvPr/>
        </p:nvSpPr>
        <p:spPr>
          <a:xfrm>
            <a:off x="4968240" y="4270248"/>
            <a:ext cx="2773680" cy="868680"/>
          </a:xfrm>
          <a:prstGeom prst="rect">
            <a:avLst/>
          </a:prstGeom>
          <a:noFill/>
          <a:ln/>
        </p:spPr>
        <p:txBody>
          <a:bodyPr wrap="square" lIns="0" tIns="0" rIns="0" bIns="0" rtlCol="0" anchor="t"/>
          <a:lstStyle/>
          <a:p>
            <a:pPr indent="0" marL="0">
              <a:buNone/>
            </a:pPr>
            <a:r>
              <a:rPr lang="en-US" sz="1300" dirty="0">
                <a:solidFill>
                  <a:srgbClr val="5A6B75"/>
                </a:solidFill>
              </a:rPr>
              <a:t>With real respondents; reliability from own data.</a:t>
            </a:r>
            <a:endParaRPr lang="en-US" sz="1300" dirty="0"/>
          </a:p>
        </p:txBody>
      </p:sp>
      <p:sp>
        <p:nvSpPr>
          <p:cNvPr id="23" name="stepdisc-90"/>
          <p:cNvSpPr/>
          <p:nvPr/>
        </p:nvSpPr>
        <p:spPr>
          <a:xfrm>
            <a:off x="8107680" y="3794760"/>
            <a:ext cx="457200" cy="457200"/>
          </a:xfrm>
          <a:prstGeom prst="ellipse">
            <a:avLst/>
          </a:prstGeom>
          <a:solidFill>
            <a:srgbClr val="8A9BA5"/>
          </a:solidFill>
          <a:ln/>
        </p:spPr>
      </p:sp>
      <p:sp>
        <p:nvSpPr>
          <p:cNvPr id="24" name="stepnum-91"/>
          <p:cNvSpPr txBox="1"/>
          <p:nvPr/>
        </p:nvSpPr>
        <p:spPr>
          <a:xfrm>
            <a:off x="8107680" y="3794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6</a:t>
            </a:r>
            <a:endParaRPr lang="en-US" sz="1700" dirty="0"/>
          </a:p>
        </p:txBody>
      </p:sp>
      <p:sp>
        <p:nvSpPr>
          <p:cNvPr id="25" name="stephead-92"/>
          <p:cNvSpPr txBox="1"/>
          <p:nvPr/>
        </p:nvSpPr>
        <p:spPr>
          <a:xfrm>
            <a:off x="8702040" y="3776472"/>
            <a:ext cx="2773680" cy="548640"/>
          </a:xfrm>
          <a:prstGeom prst="rect">
            <a:avLst/>
          </a:prstGeom>
          <a:noFill/>
          <a:ln/>
        </p:spPr>
        <p:txBody>
          <a:bodyPr wrap="square" lIns="0" tIns="0" rIns="0" bIns="0" rtlCol="0" anchor="ctr"/>
          <a:lstStyle/>
          <a:p>
            <a:pPr indent="0" marL="0">
              <a:buNone/>
            </a:pPr>
            <a:r>
              <a:rPr lang="en-US" sz="1550" b="1" dirty="0">
                <a:solidFill>
                  <a:schemeClr val="tx1"/>
                </a:solidFill>
              </a:rPr>
              <a:t>Close groundedness metrics</a:t>
            </a:r>
            <a:endParaRPr lang="en-US" sz="1550" dirty="0"/>
          </a:p>
        </p:txBody>
      </p:sp>
      <p:sp>
        <p:nvSpPr>
          <p:cNvPr id="26" name="stepdesc-93"/>
          <p:cNvSpPr txBox="1"/>
          <p:nvPr/>
        </p:nvSpPr>
        <p:spPr>
          <a:xfrm>
            <a:off x="8702040" y="4270248"/>
            <a:ext cx="2773680" cy="868680"/>
          </a:xfrm>
          <a:prstGeom prst="rect">
            <a:avLst/>
          </a:prstGeom>
          <a:noFill/>
          <a:ln/>
        </p:spPr>
        <p:txBody>
          <a:bodyPr wrap="square" lIns="0" tIns="0" rIns="0" bIns="0" rtlCol="0" anchor="t"/>
          <a:lstStyle/>
          <a:p>
            <a:pPr indent="0" marL="0">
              <a:buNone/>
            </a:pPr>
            <a:r>
              <a:rPr lang="en-US" sz="1300" dirty="0">
                <a:solidFill>
                  <a:srgbClr val="5A6B75"/>
                </a:solidFill>
              </a:rPr>
              <a:t>Completes objective 4.</a:t>
            </a:r>
            <a:endParaRPr lang="en-US" sz="1300" dirty="0"/>
          </a:p>
        </p:txBody>
      </p:sp>
      <p:sp>
        <p:nvSpPr>
          <p:cNvPr id="27" name="nextkicker-94"/>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400" i="1" dirty="0">
                <a:solidFill>
                  <a:srgbClr val="028090"/>
                </a:solidFill>
              </a:rPr>
              <a:t>Steps 1 to 3 are each under a day, and all three de-risk step 4.</a:t>
            </a:r>
            <a:endParaRPr lang="en-US" sz="1400" dirty="0"/>
          </a:p>
        </p:txBody>
      </p:sp>
      <p:sp>
        <p:nvSpPr>
          <p:cNvPr id="29" name="Text 2"/>
          <p:cNvSpPr/>
          <p:nvPr>
            <p:ph idx="103" type="chart" hasCustomPrompt="1"/>
          </p:nvPr>
        </p:nvSpPr>
        <p:spPr>
          <a:xfrm>
            <a:off x="640080" y="1463040"/>
            <a:ext cx="6492240" cy="4480560"/>
          </a:xfrm>
          <a:prstGeom prst="rect">
            <a:avLst/>
          </a:prstGeom>
          <a:noFill/>
          <a:ln/>
        </p:spPr>
        <p:txBody>
          <a:bodyPr wrap="square" rtlCol="0"/>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424160" cy="2194560"/>
          </a:xfrm>
          <a:prstGeom prst="rect">
            <a:avLst/>
          </a:prstGeom>
          <a:noFill/>
          <a:ln/>
        </p:spPr>
        <p:txBody>
          <a:bodyPr wrap="square" rtlCol="0" anchor="t"/>
          <a:lstStyle/>
          <a:p>
            <a:pPr algn="l" indent="0" marL="0">
              <a:buNone/>
            </a:pPr>
            <a:r>
              <a:rPr lang="en-US" sz="3600" b="1" dirty="0">
                <a:solidFill>
                  <a:schemeClr val="bg1"/>
                </a:solidFill>
              </a:rPr>
              <a:t>The system works. The evaluation is what remains.</a:t>
            </a:r>
            <a:endParaRPr lang="en-US" sz="3600" dirty="0"/>
          </a:p>
        </p:txBody>
      </p:sp>
      <p:sp>
        <p:nvSpPr>
          <p:cNvPr id="3" name="Text 0"/>
          <p:cNvSpPr/>
          <p:nvPr>
            <p:ph idx="101" type="body" hasCustomPrompt="1"/>
          </p:nvPr>
        </p:nvSpPr>
        <p:spPr>
          <a:xfrm>
            <a:off x="822960" y="4480560"/>
            <a:ext cx="10424160" cy="1097280"/>
          </a:xfrm>
          <a:prstGeom prst="rect">
            <a:avLst/>
          </a:prstGeom>
          <a:noFill/>
          <a:ln/>
        </p:spPr>
        <p:txBody>
          <a:bodyPr wrap="square" rtlCol="0" anchor="t"/>
          <a:lstStyle/>
          <a:p>
            <a:pPr indent="0" marL="0">
              <a:buNone/>
            </a:pPr>
            <a:r>
              <a:rPr lang="en-US" sz="1500" dirty="0">
                <a:solidFill>
                  <a:srgbClr val="C9D3D8"/>
                </a:solidFill>
              </a:rPr>
              <a:t>Objectives 1 to 3 are met and deployed. Objective 4 needs respondents and one on-site study — both scoped, with instruments ready to field.</a:t>
            </a:r>
            <a:endParaRPr lang="en-US" sz="1500" dirty="0"/>
          </a:p>
        </p:txBody>
      </p:sp>
    </p:spTree>
  </p:cSld>
  <p:clrMapOvr>
    <a:masterClrMapping/>
  </p:clrMapOvr>
</p:sld>
</file>

<file path=ppt/theme/theme1.xml><?xml version="1.0" encoding="utf-8"?>
<a:theme xmlns:a="http://schemas.openxmlformats.org/drawingml/2006/main" name="Charcoal Civic">
  <a:themeElements>
    <a:clrScheme name="Charcoal Civic">
      <a:dk1>
        <a:srgbClr val="212121"/>
      </a:dk1>
      <a:lt1>
        <a:srgbClr val="FFFFFF"/>
      </a:lt1>
      <a:dk2>
        <a:srgbClr val="36454F"/>
      </a:dk2>
      <a:lt2>
        <a:srgbClr val="F2F2F2"/>
      </a:lt2>
      <a:accent1>
        <a:srgbClr val="028090"/>
      </a:accent1>
      <a:accent2>
        <a:srgbClr val="36454F"/>
      </a:accent2>
      <a:accent3>
        <a:srgbClr val="8A9BA5"/>
      </a:accent3>
      <a:accent4>
        <a:srgbClr val="5A6B75"/>
      </a:accent4>
      <a:accent5>
        <a:srgbClr val="C9D3D8"/>
      </a:accent5>
      <a:accent6>
        <a:srgbClr val="014F5A"/>
      </a:accent6>
      <a:hlink>
        <a:srgbClr val="028090"/>
      </a:hlink>
      <a:folHlink>
        <a:srgbClr val="014F5A"/>
      </a:folHlink>
    </a:clrScheme>
    <a:fontScheme name="Charcoal Civ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La Consolacion University Philippines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Geo-Agentic RAG - Project Overview</dc:title>
  <dc:subject>PptxGenJS Presentation</dc:subject>
  <dc:creator>Jester C. Penaranda</dc:creator>
  <cp:lastModifiedBy>Jester C. Penaranda</cp:lastModifiedBy>
  <cp:revision>1</cp:revision>
  <dcterms:created xsi:type="dcterms:W3CDTF">2026-10-11T09:14:06Z</dcterms:created>
  <dcterms:modified xsi:type="dcterms:W3CDTF">2026-10-11T09:14:06Z</dcterms:modified>
</cp:coreProperties>
</file>